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61" r:id="rId3"/>
    <p:sldId id="269" r:id="rId4"/>
    <p:sldId id="262" r:id="rId5"/>
    <p:sldId id="263" r:id="rId6"/>
    <p:sldId id="264" r:id="rId7"/>
    <p:sldId id="266" r:id="rId8"/>
    <p:sldId id="268" r:id="rId9"/>
    <p:sldId id="267" r:id="rId10"/>
  </p:sldIdLst>
  <p:sldSz cx="18288000" cy="10287000"/>
  <p:notesSz cx="6858000" cy="9144000"/>
  <p:embeddedFontLst>
    <p:embeddedFont>
      <p:font typeface="Alatsi" panose="020B0604020202020204" charset="0"/>
      <p:regular r:id="rId12"/>
    </p:embeddedFont>
    <p:embeddedFont>
      <p:font typeface="Poppins" panose="00000500000000000000"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j2Mwbnw/ZVzYhCLMewMLwS6J92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66F292-71A9-4722-8368-2D07C3AA5479}" v="1" dt="2026-02-26T06:46:46.7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43" y="32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av Iyyappan" userId="c5f7a5d227565f73" providerId="LiveId" clId="{AA6BC2B5-076A-4749-B7E4-FFD412776AD0}"/>
    <pc:docChg chg="modSld">
      <pc:chgData name="Pranav Iyyappan" userId="c5f7a5d227565f73" providerId="LiveId" clId="{AA6BC2B5-076A-4749-B7E4-FFD412776AD0}" dt="2026-02-26T06:46:57.413" v="3" actId="2711"/>
      <pc:docMkLst>
        <pc:docMk/>
      </pc:docMkLst>
      <pc:sldChg chg="modSp mod">
        <pc:chgData name="Pranav Iyyappan" userId="c5f7a5d227565f73" providerId="LiveId" clId="{AA6BC2B5-076A-4749-B7E4-FFD412776AD0}" dt="2026-02-26T06:46:57.413" v="3" actId="2711"/>
        <pc:sldMkLst>
          <pc:docMk/>
          <pc:sldMk cId="2291921174" sldId="263"/>
        </pc:sldMkLst>
        <pc:spChg chg="mod">
          <ac:chgData name="Pranav Iyyappan" userId="c5f7a5d227565f73" providerId="LiveId" clId="{AA6BC2B5-076A-4749-B7E4-FFD412776AD0}" dt="2026-02-26T06:46:57.413" v="3" actId="2711"/>
          <ac:spMkLst>
            <pc:docMk/>
            <pc:sldMk cId="2291921174" sldId="263"/>
            <ac:spMk id="14" creationId="{08E01E13-E84E-7A1A-1D5C-4D79CD79CCA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33935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68248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1792288" y="612775"/>
            <a:ext cx="5486400" cy="4114800"/>
          </a:xfrm>
          <a:prstGeom prst="rect">
            <a:avLst/>
          </a:prstGeom>
          <a:noFill/>
          <a:ln>
            <a:noFill/>
          </a:ln>
        </p:spPr>
      </p:sp>
      <p:sp>
        <p:nvSpPr>
          <p:cNvPr id="64" name="Google Shape;64;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flipH="1">
            <a:off x="9815446" y="-1202924"/>
            <a:ext cx="8843633" cy="6511125"/>
          </a:xfrm>
          <a:custGeom>
            <a:avLst/>
            <a:gdLst/>
            <a:ahLst/>
            <a:cxnLst/>
            <a:rect l="l" t="t" r="r" b="b"/>
            <a:pathLst>
              <a:path w="8843633" h="6511125" extrusionOk="0">
                <a:moveTo>
                  <a:pt x="8843633" y="0"/>
                </a:moveTo>
                <a:lnTo>
                  <a:pt x="0" y="0"/>
                </a:lnTo>
                <a:lnTo>
                  <a:pt x="0" y="6511124"/>
                </a:lnTo>
                <a:lnTo>
                  <a:pt x="8843633" y="6511124"/>
                </a:lnTo>
                <a:lnTo>
                  <a:pt x="8843633" y="0"/>
                </a:lnTo>
                <a:close/>
              </a:path>
            </a:pathLst>
          </a:custGeom>
          <a:blipFill rotWithShape="1">
            <a:blip r:embed="rId3">
              <a:alphaModFix amt="28000"/>
            </a:blip>
            <a:stretch>
              <a:fillRect/>
            </a:stretch>
          </a:blipFill>
          <a:ln>
            <a:noFill/>
          </a:ln>
        </p:spPr>
        <p:txBody>
          <a:bodyPr/>
          <a:lstStyle/>
          <a:p>
            <a:endParaRPr lang="en-IN"/>
          </a:p>
        </p:txBody>
      </p:sp>
      <p:grpSp>
        <p:nvGrpSpPr>
          <p:cNvPr id="85" name="Google Shape;85;p1"/>
          <p:cNvGrpSpPr/>
          <p:nvPr/>
        </p:nvGrpSpPr>
        <p:grpSpPr>
          <a:xfrm>
            <a:off x="304800" y="264099"/>
            <a:ext cx="10333517" cy="2099678"/>
            <a:chOff x="0" y="-38100"/>
            <a:chExt cx="2721604" cy="552958"/>
          </a:xfrm>
        </p:grpSpPr>
        <p:sp>
          <p:nvSpPr>
            <p:cNvPr id="86" name="Google Shape;86;p1"/>
            <p:cNvSpPr/>
            <p:nvPr/>
          </p:nvSpPr>
          <p:spPr>
            <a:xfrm>
              <a:off x="0" y="0"/>
              <a:ext cx="2721604" cy="514858"/>
            </a:xfrm>
            <a:custGeom>
              <a:avLst/>
              <a:gdLst/>
              <a:ahLst/>
              <a:cxnLst/>
              <a:rect l="l" t="t" r="r" b="b"/>
              <a:pathLst>
                <a:path w="2721604" h="514858" extrusionOk="0">
                  <a:moveTo>
                    <a:pt x="2721604" y="11987"/>
                  </a:moveTo>
                  <a:lnTo>
                    <a:pt x="2721604" y="502871"/>
                  </a:lnTo>
                  <a:cubicBezTo>
                    <a:pt x="2721604" y="506050"/>
                    <a:pt x="2720342" y="509099"/>
                    <a:pt x="2718093" y="511347"/>
                  </a:cubicBezTo>
                  <a:cubicBezTo>
                    <a:pt x="2715845" y="513595"/>
                    <a:pt x="2712796" y="514858"/>
                    <a:pt x="2709617" y="514858"/>
                  </a:cubicBezTo>
                  <a:lnTo>
                    <a:pt x="11987" y="514858"/>
                  </a:lnTo>
                  <a:cubicBezTo>
                    <a:pt x="8808" y="514858"/>
                    <a:pt x="5759" y="513595"/>
                    <a:pt x="3511" y="511347"/>
                  </a:cubicBezTo>
                  <a:cubicBezTo>
                    <a:pt x="1263" y="509099"/>
                    <a:pt x="0" y="506050"/>
                    <a:pt x="0" y="502871"/>
                  </a:cubicBezTo>
                  <a:lnTo>
                    <a:pt x="0" y="11987"/>
                  </a:lnTo>
                  <a:cubicBezTo>
                    <a:pt x="0" y="8808"/>
                    <a:pt x="1263" y="5759"/>
                    <a:pt x="3511" y="3511"/>
                  </a:cubicBezTo>
                  <a:cubicBezTo>
                    <a:pt x="5759" y="1263"/>
                    <a:pt x="8808" y="0"/>
                    <a:pt x="11987" y="0"/>
                  </a:cubicBezTo>
                  <a:lnTo>
                    <a:pt x="2709617" y="0"/>
                  </a:lnTo>
                  <a:cubicBezTo>
                    <a:pt x="2712796" y="0"/>
                    <a:pt x="2715845" y="1263"/>
                    <a:pt x="2718093" y="3511"/>
                  </a:cubicBezTo>
                  <a:cubicBezTo>
                    <a:pt x="2720342" y="5759"/>
                    <a:pt x="2721604" y="8808"/>
                    <a:pt x="2721604" y="11987"/>
                  </a:cubicBezTo>
                  <a:close/>
                </a:path>
              </a:pathLst>
            </a:custGeom>
            <a:solidFill>
              <a:srgbClr val="000000">
                <a:alpha val="0"/>
              </a:srgbClr>
            </a:solidFill>
            <a:ln w="85725" cap="sq" cmpd="sng">
              <a:solidFill>
                <a:srgbClr val="FFD03A"/>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
            <p:cNvSpPr txBox="1"/>
            <p:nvPr/>
          </p:nvSpPr>
          <p:spPr>
            <a:xfrm>
              <a:off x="0" y="-38100"/>
              <a:ext cx="2721604" cy="552958"/>
            </a:xfrm>
            <a:prstGeom prst="rect">
              <a:avLst/>
            </a:prstGeom>
            <a:noFill/>
            <a:ln>
              <a:noFill/>
            </a:ln>
          </p:spPr>
          <p:txBody>
            <a:bodyPr spcFirstLastPara="1" wrap="square" lIns="50800" tIns="50800" rIns="50800" bIns="50800" anchor="ctr" anchorCtr="0">
              <a:noAutofit/>
            </a:bodyPr>
            <a:lstStyle/>
            <a:p>
              <a:pPr marL="0" marR="0" lvl="0" indent="0" algn="ctr" rtl="0">
                <a:lnSpc>
                  <a:spcPct val="112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8" name="Google Shape;88;p1"/>
          <p:cNvSpPr txBox="1"/>
          <p:nvPr/>
        </p:nvSpPr>
        <p:spPr>
          <a:xfrm>
            <a:off x="-776" y="2895482"/>
            <a:ext cx="11060326" cy="652486"/>
          </a:xfrm>
          <a:prstGeom prst="rect">
            <a:avLst/>
          </a:prstGeom>
          <a:noFill/>
          <a:ln>
            <a:noFill/>
          </a:ln>
        </p:spPr>
        <p:txBody>
          <a:bodyPr spcFirstLastPara="1" wrap="square" lIns="0" tIns="0" rIns="0" bIns="0" anchor="t" anchorCtr="0">
            <a:spAutoFit/>
          </a:bodyPr>
          <a:lstStyle/>
          <a:p>
            <a:pPr algn="ctr">
              <a:lnSpc>
                <a:spcPct val="105999"/>
              </a:lnSpc>
            </a:pPr>
            <a:r>
              <a:rPr lang="en-US" sz="4000" b="0" i="0" u="none" strike="noStrike" cap="none" dirty="0">
                <a:solidFill>
                  <a:srgbClr val="082276"/>
                </a:solidFill>
                <a:latin typeface="Alatsi"/>
                <a:ea typeface="Alatsi"/>
                <a:cs typeface="Alatsi"/>
                <a:sym typeface="Alatsi"/>
              </a:rPr>
              <a:t>Name of the </a:t>
            </a:r>
            <a:r>
              <a:rPr lang="en-US" sz="4000" b="0" i="0" u="none" strike="noStrike" cap="none" dirty="0">
                <a:solidFill>
                  <a:srgbClr val="FDC023"/>
                </a:solidFill>
                <a:latin typeface="Alatsi"/>
                <a:ea typeface="Alatsi"/>
                <a:cs typeface="Alatsi"/>
                <a:sym typeface="Alatsi"/>
              </a:rPr>
              <a:t>Idea / Start</a:t>
            </a:r>
            <a:r>
              <a:rPr lang="en-US" sz="4000" b="1" i="0" u="none" strike="noStrike" cap="none" dirty="0">
                <a:solidFill>
                  <a:srgbClr val="FDC023"/>
                </a:solidFill>
                <a:latin typeface="Alatsi"/>
                <a:ea typeface="Alatsi"/>
                <a:cs typeface="Alatsi"/>
                <a:sym typeface="Alatsi"/>
              </a:rPr>
              <a:t>up: </a:t>
            </a:r>
            <a:r>
              <a:rPr lang="en-US" sz="4000" b="1" dirty="0" err="1">
                <a:solidFill>
                  <a:srgbClr val="FDC023"/>
                </a:solidFill>
                <a:ea typeface="Alatsi"/>
                <a:sym typeface="Alatsi"/>
              </a:rPr>
              <a:t>செம்மொழி</a:t>
            </a:r>
            <a:r>
              <a:rPr lang="en-US" sz="4000" b="1" dirty="0">
                <a:solidFill>
                  <a:srgbClr val="FDC023"/>
                </a:solidFill>
                <a:ea typeface="Alatsi"/>
                <a:sym typeface="Alatsi"/>
              </a:rPr>
              <a:t> </a:t>
            </a:r>
            <a:r>
              <a:rPr lang="en-US" sz="4000" b="1" dirty="0" err="1">
                <a:solidFill>
                  <a:srgbClr val="FDC023"/>
                </a:solidFill>
                <a:ea typeface="Alatsi"/>
                <a:sym typeface="Alatsi"/>
              </a:rPr>
              <a:t>சுடர்</a:t>
            </a:r>
            <a:endParaRPr lang="en-US" b="1"/>
          </a:p>
        </p:txBody>
      </p:sp>
      <p:sp>
        <p:nvSpPr>
          <p:cNvPr id="89" name="Google Shape;89;p1"/>
          <p:cNvSpPr/>
          <p:nvPr/>
        </p:nvSpPr>
        <p:spPr>
          <a:xfrm>
            <a:off x="381000" y="485972"/>
            <a:ext cx="10195503" cy="1796718"/>
          </a:xfrm>
          <a:prstGeom prst="roundRect">
            <a:avLst>
              <a:gd name="adj" fmla="val 16667"/>
            </a:avLst>
          </a:prstGeom>
          <a:solidFill>
            <a:srgbClr val="FFD03A"/>
          </a:solidFill>
          <a:ln w="57150" cap="flat" cmpd="sng">
            <a:solidFill>
              <a:srgbClr val="253B80"/>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1"/>
          <p:cNvSpPr txBox="1"/>
          <p:nvPr/>
        </p:nvSpPr>
        <p:spPr>
          <a:xfrm>
            <a:off x="308277" y="3774330"/>
            <a:ext cx="10885740" cy="7099892"/>
          </a:xfrm>
          <a:prstGeom prst="rect">
            <a:avLst/>
          </a:prstGeom>
          <a:noFill/>
          <a:ln>
            <a:noFill/>
          </a:ln>
        </p:spPr>
        <p:txBody>
          <a:bodyPr spcFirstLastPara="1" wrap="square" lIns="0" tIns="0" rIns="0" bIns="0" anchor="t" anchorCtr="0">
            <a:spAutoFit/>
          </a:bodyPr>
          <a:lstStyle/>
          <a:p>
            <a:pPr>
              <a:lnSpc>
                <a:spcPct val="146011"/>
              </a:lnSpc>
            </a:pPr>
            <a:r>
              <a:rPr lang="en-US" sz="3950" b="0" i="0" u="none" strike="noStrike" cap="none" dirty="0">
                <a:solidFill>
                  <a:srgbClr val="082276"/>
                </a:solidFill>
                <a:latin typeface="Alatsi"/>
                <a:ea typeface="Alatsi"/>
                <a:cs typeface="Alatsi"/>
                <a:sym typeface="Alatsi"/>
              </a:rPr>
              <a:t>Name of the </a:t>
            </a:r>
            <a:br>
              <a:rPr lang="en-US" sz="3950" b="0" i="0" u="none" strike="noStrike" cap="none" dirty="0">
                <a:latin typeface="Alatsi"/>
                <a:ea typeface="Alatsi"/>
                <a:cs typeface="Alatsi"/>
              </a:rPr>
            </a:br>
            <a:r>
              <a:rPr lang="en-US" sz="3950" b="0" i="0" u="none" strike="noStrike" cap="none" dirty="0">
                <a:solidFill>
                  <a:srgbClr val="FDC023"/>
                </a:solidFill>
                <a:latin typeface="Alatsi"/>
                <a:ea typeface="Alatsi"/>
                <a:cs typeface="Alatsi"/>
                <a:sym typeface="Alatsi"/>
              </a:rPr>
              <a:t>Team Members / Individual :</a:t>
            </a:r>
            <a:r>
              <a:rPr lang="en-US" sz="3950" b="0" i="0" u="none" strike="noStrike" cap="none" dirty="0">
                <a:solidFill>
                  <a:srgbClr val="082276"/>
                </a:solidFill>
                <a:latin typeface="Alatsi"/>
                <a:ea typeface="Alatsi"/>
                <a:cs typeface="Alatsi"/>
                <a:sym typeface="Alatsi"/>
              </a:rPr>
              <a:t> </a:t>
            </a:r>
            <a:r>
              <a:rPr lang="en-US" sz="3950" dirty="0">
                <a:solidFill>
                  <a:srgbClr val="082276"/>
                </a:solidFill>
                <a:latin typeface="Alatsi"/>
                <a:ea typeface="Alatsi"/>
                <a:cs typeface="Alatsi"/>
              </a:rPr>
              <a:t>Antony Selva </a:t>
            </a:r>
            <a:r>
              <a:rPr lang="en-US" sz="3950" dirty="0" err="1">
                <a:solidFill>
                  <a:srgbClr val="082276"/>
                </a:solidFill>
                <a:latin typeface="Alatsi"/>
                <a:ea typeface="Alatsi"/>
                <a:cs typeface="Alatsi"/>
              </a:rPr>
              <a:t>Jasfer</a:t>
            </a:r>
            <a:r>
              <a:rPr lang="en-US" sz="3950" dirty="0">
                <a:solidFill>
                  <a:srgbClr val="082276"/>
                </a:solidFill>
                <a:latin typeface="Alatsi"/>
                <a:ea typeface="Alatsi"/>
                <a:cs typeface="Alatsi"/>
              </a:rPr>
              <a:t> A</a:t>
            </a:r>
          </a:p>
          <a:p>
            <a:pPr>
              <a:lnSpc>
                <a:spcPct val="146011"/>
              </a:lnSpc>
            </a:pPr>
            <a:r>
              <a:rPr lang="en-US" sz="3950" dirty="0">
                <a:solidFill>
                  <a:srgbClr val="082276"/>
                </a:solidFill>
                <a:latin typeface="Alatsi"/>
                <a:ea typeface="Alatsi"/>
                <a:cs typeface="Alatsi"/>
              </a:rPr>
              <a:t>Priyan U </a:t>
            </a:r>
          </a:p>
          <a:p>
            <a:pPr>
              <a:lnSpc>
                <a:spcPct val="146011"/>
              </a:lnSpc>
            </a:pPr>
            <a:r>
              <a:rPr lang="en-US" sz="3950" dirty="0">
                <a:solidFill>
                  <a:srgbClr val="082276"/>
                </a:solidFill>
                <a:latin typeface="Alatsi"/>
                <a:ea typeface="Alatsi"/>
                <a:cs typeface="Alatsi"/>
              </a:rPr>
              <a:t>Akash Narayanan C</a:t>
            </a:r>
          </a:p>
          <a:p>
            <a:pPr>
              <a:lnSpc>
                <a:spcPct val="146011"/>
              </a:lnSpc>
            </a:pPr>
            <a:r>
              <a:rPr lang="en-US" sz="3950" dirty="0">
                <a:solidFill>
                  <a:srgbClr val="082276"/>
                </a:solidFill>
                <a:latin typeface="Alatsi"/>
                <a:ea typeface="Alatsi"/>
                <a:cs typeface="Alatsi"/>
              </a:rPr>
              <a:t>Kavin Raj M</a:t>
            </a:r>
          </a:p>
          <a:p>
            <a:pPr>
              <a:lnSpc>
                <a:spcPct val="146011"/>
              </a:lnSpc>
            </a:pPr>
            <a:r>
              <a:rPr lang="en-US" sz="3950" dirty="0" err="1">
                <a:solidFill>
                  <a:srgbClr val="082276"/>
                </a:solidFill>
                <a:latin typeface="Alatsi"/>
                <a:ea typeface="Alatsi"/>
                <a:cs typeface="Alatsi"/>
              </a:rPr>
              <a:t>IV.Pranav</a:t>
            </a:r>
            <a:r>
              <a:rPr lang="en-US" sz="3950" dirty="0">
                <a:solidFill>
                  <a:srgbClr val="082276"/>
                </a:solidFill>
                <a:latin typeface="Alatsi"/>
                <a:ea typeface="Alatsi"/>
                <a:cs typeface="Alatsi"/>
              </a:rPr>
              <a:t> Moorthy</a:t>
            </a:r>
          </a:p>
          <a:p>
            <a:pPr>
              <a:lnSpc>
                <a:spcPct val="146011"/>
              </a:lnSpc>
            </a:pPr>
            <a:endParaRPr lang="en-US" sz="3950" dirty="0">
              <a:solidFill>
                <a:srgbClr val="082276"/>
              </a:solidFill>
              <a:latin typeface="Alatsi"/>
              <a:ea typeface="Alatsi"/>
              <a:cs typeface="Alatsi"/>
            </a:endParaRPr>
          </a:p>
          <a:p>
            <a:pPr>
              <a:lnSpc>
                <a:spcPct val="146011"/>
              </a:lnSpc>
            </a:pPr>
            <a:endParaRPr lang="en-US" sz="3950" dirty="0">
              <a:solidFill>
                <a:srgbClr val="082276"/>
              </a:solidFill>
              <a:latin typeface="Alatsi"/>
              <a:ea typeface="Alatsi"/>
              <a:cs typeface="Alatsi"/>
            </a:endParaRPr>
          </a:p>
        </p:txBody>
      </p:sp>
      <p:sp>
        <p:nvSpPr>
          <p:cNvPr id="91" name="Google Shape;91;p1"/>
          <p:cNvSpPr txBox="1"/>
          <p:nvPr/>
        </p:nvSpPr>
        <p:spPr>
          <a:xfrm>
            <a:off x="304800" y="8913541"/>
            <a:ext cx="9736383" cy="887487"/>
          </a:xfrm>
          <a:prstGeom prst="rect">
            <a:avLst/>
          </a:prstGeom>
          <a:noFill/>
          <a:ln>
            <a:noFill/>
          </a:ln>
        </p:spPr>
        <p:txBody>
          <a:bodyPr spcFirstLastPara="1" wrap="square" lIns="0" tIns="0" rIns="0" bIns="0" anchor="t" anchorCtr="0">
            <a:spAutoFit/>
          </a:bodyPr>
          <a:lstStyle/>
          <a:p>
            <a:pPr>
              <a:lnSpc>
                <a:spcPct val="146011"/>
              </a:lnSpc>
            </a:pPr>
            <a:r>
              <a:rPr lang="en-US" sz="3950" b="0" i="0" u="none" strike="noStrike" cap="none" dirty="0">
                <a:solidFill>
                  <a:srgbClr val="082276"/>
                </a:solidFill>
                <a:latin typeface="Alatsi"/>
                <a:ea typeface="Alatsi"/>
                <a:cs typeface="Alatsi"/>
                <a:sym typeface="Alatsi"/>
              </a:rPr>
              <a:t>Name of the </a:t>
            </a:r>
            <a:r>
              <a:rPr lang="en-US" sz="3950" b="0" i="0" u="none" strike="noStrike" cap="none" dirty="0">
                <a:solidFill>
                  <a:srgbClr val="FDC023"/>
                </a:solidFill>
                <a:latin typeface="Alatsi"/>
                <a:ea typeface="Alatsi"/>
                <a:cs typeface="Alatsi"/>
                <a:sym typeface="Alatsi"/>
              </a:rPr>
              <a:t>Mentor:</a:t>
            </a:r>
            <a:r>
              <a:rPr lang="en-US" sz="3950" dirty="0">
                <a:solidFill>
                  <a:srgbClr val="082276"/>
                </a:solidFill>
                <a:latin typeface="Alatsi"/>
                <a:ea typeface="Alatsi"/>
                <a:cs typeface="Alatsi"/>
                <a:sym typeface="Alatsi"/>
              </a:rPr>
              <a:t> Jothi Lakshmi S L</a:t>
            </a:r>
            <a:endParaRPr lang="en-US" sz="3950" dirty="0">
              <a:solidFill>
                <a:srgbClr val="FDC023"/>
              </a:solidFill>
              <a:latin typeface="Alatsi"/>
              <a:cs typeface="Alatsi"/>
            </a:endParaRPr>
          </a:p>
        </p:txBody>
      </p:sp>
      <p:sp>
        <p:nvSpPr>
          <p:cNvPr id="92" name="Google Shape;92;p1"/>
          <p:cNvSpPr/>
          <p:nvPr/>
        </p:nvSpPr>
        <p:spPr>
          <a:xfrm>
            <a:off x="559941" y="1139165"/>
            <a:ext cx="3256546" cy="792426"/>
          </a:xfrm>
          <a:custGeom>
            <a:avLst/>
            <a:gdLst/>
            <a:ahLst/>
            <a:cxnLst/>
            <a:rect l="l" t="t" r="r" b="b"/>
            <a:pathLst>
              <a:path w="3256546" h="792426" extrusionOk="0">
                <a:moveTo>
                  <a:pt x="0" y="0"/>
                </a:moveTo>
                <a:lnTo>
                  <a:pt x="3256547" y="0"/>
                </a:lnTo>
                <a:lnTo>
                  <a:pt x="3256547" y="792427"/>
                </a:lnTo>
                <a:lnTo>
                  <a:pt x="0" y="792427"/>
                </a:lnTo>
                <a:lnTo>
                  <a:pt x="0" y="0"/>
                </a:lnTo>
                <a:close/>
              </a:path>
            </a:pathLst>
          </a:custGeom>
          <a:blipFill rotWithShape="1">
            <a:blip r:embed="rId4">
              <a:alphaModFix/>
            </a:blip>
            <a:stretch>
              <a:fillRect/>
            </a:stretch>
          </a:blipFill>
          <a:ln>
            <a:noFill/>
          </a:ln>
        </p:spPr>
        <p:txBody>
          <a:bodyPr/>
          <a:lstStyle/>
          <a:p>
            <a:endParaRPr lang="en-IN"/>
          </a:p>
        </p:txBody>
      </p:sp>
      <p:sp>
        <p:nvSpPr>
          <p:cNvPr id="93" name="Google Shape;93;p1"/>
          <p:cNvSpPr/>
          <p:nvPr/>
        </p:nvSpPr>
        <p:spPr>
          <a:xfrm rot="10800000">
            <a:off x="9841383" y="5318651"/>
            <a:ext cx="8753659" cy="6444881"/>
          </a:xfrm>
          <a:custGeom>
            <a:avLst/>
            <a:gdLst/>
            <a:ahLst/>
            <a:cxnLst/>
            <a:rect l="l" t="t" r="r" b="b"/>
            <a:pathLst>
              <a:path w="8753659" h="6444881" extrusionOk="0">
                <a:moveTo>
                  <a:pt x="8753659" y="6444881"/>
                </a:moveTo>
                <a:lnTo>
                  <a:pt x="0" y="6444881"/>
                </a:lnTo>
                <a:lnTo>
                  <a:pt x="0" y="0"/>
                </a:lnTo>
                <a:lnTo>
                  <a:pt x="8753659" y="0"/>
                </a:lnTo>
                <a:lnTo>
                  <a:pt x="8753659" y="6444881"/>
                </a:lnTo>
                <a:close/>
              </a:path>
            </a:pathLst>
          </a:custGeom>
          <a:blipFill rotWithShape="1">
            <a:blip r:embed="rId5">
              <a:alphaModFix amt="12000"/>
            </a:blip>
            <a:stretch>
              <a:fillRect/>
            </a:stretch>
          </a:blipFill>
          <a:ln>
            <a:noFill/>
          </a:ln>
        </p:spPr>
        <p:txBody>
          <a:bodyPr/>
          <a:lstStyle/>
          <a:p>
            <a:endParaRPr lang="en-IN"/>
          </a:p>
        </p:txBody>
      </p:sp>
      <p:grpSp>
        <p:nvGrpSpPr>
          <p:cNvPr id="94" name="Google Shape;94;p1"/>
          <p:cNvGrpSpPr/>
          <p:nvPr/>
        </p:nvGrpSpPr>
        <p:grpSpPr>
          <a:xfrm>
            <a:off x="-97036" y="9955221"/>
            <a:ext cx="19279047" cy="905078"/>
            <a:chOff x="0" y="-75196"/>
            <a:chExt cx="25705396" cy="1206771"/>
          </a:xfrm>
        </p:grpSpPr>
        <p:grpSp>
          <p:nvGrpSpPr>
            <p:cNvPr id="95" name="Google Shape;95;p1"/>
            <p:cNvGrpSpPr/>
            <p:nvPr/>
          </p:nvGrpSpPr>
          <p:grpSpPr>
            <a:xfrm>
              <a:off x="0" y="-68196"/>
              <a:ext cx="14312436" cy="1046443"/>
              <a:chOff x="0" y="-9525"/>
              <a:chExt cx="2000501" cy="146157"/>
            </a:xfrm>
          </p:grpSpPr>
          <p:sp>
            <p:nvSpPr>
              <p:cNvPr id="96" name="Google Shape;96;p1"/>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97" name="Google Shape;97;p1"/>
              <p:cNvSpPr txBox="1"/>
              <p:nvPr/>
            </p:nvSpPr>
            <p:spPr>
              <a:xfrm>
                <a:off x="0" y="-9525"/>
                <a:ext cx="2000501" cy="146157"/>
              </a:xfrm>
              <a:prstGeom prst="rect">
                <a:avLst/>
              </a:prstGeom>
              <a:noFill/>
              <a:ln>
                <a:noFill/>
              </a:ln>
            </p:spPr>
            <p:txBody>
              <a:bodyPr spcFirstLastPara="1" wrap="square" lIns="50800" tIns="50800" rIns="50800" bIns="50800"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8" name="Google Shape;98;p1"/>
            <p:cNvGrpSpPr/>
            <p:nvPr/>
          </p:nvGrpSpPr>
          <p:grpSpPr>
            <a:xfrm>
              <a:off x="10591450" y="-75196"/>
              <a:ext cx="15113946" cy="1206771"/>
              <a:chOff x="11114" y="-9525"/>
              <a:chExt cx="1914481" cy="152861"/>
            </a:xfrm>
          </p:grpSpPr>
          <p:sp>
            <p:nvSpPr>
              <p:cNvPr id="99" name="Google Shape;99;p1"/>
              <p:cNvSpPr/>
              <p:nvPr/>
            </p:nvSpPr>
            <p:spPr>
              <a:xfrm>
                <a:off x="11114" y="0"/>
                <a:ext cx="1914481" cy="143336"/>
              </a:xfrm>
              <a:custGeom>
                <a:avLst/>
                <a:gdLst/>
                <a:ahLst/>
                <a:cxnLst/>
                <a:rect l="l" t="t" r="r" b="b"/>
                <a:pathLst>
                  <a:path w="1914481" h="143336" extrusionOk="0">
                    <a:moveTo>
                      <a:pt x="234638" y="0"/>
                    </a:moveTo>
                    <a:lnTo>
                      <a:pt x="1910031" y="0"/>
                    </a:lnTo>
                    <a:cubicBezTo>
                      <a:pt x="1912017" y="0"/>
                      <a:pt x="1913763" y="1317"/>
                      <a:pt x="1914309" y="3227"/>
                    </a:cubicBezTo>
                    <a:cubicBezTo>
                      <a:pt x="1914855" y="5137"/>
                      <a:pt x="1914069" y="7177"/>
                      <a:pt x="1912383" y="8227"/>
                    </a:cubicBezTo>
                    <a:lnTo>
                      <a:pt x="1708620" y="135109"/>
                    </a:lnTo>
                    <a:cubicBezTo>
                      <a:pt x="1699984" y="140486"/>
                      <a:pt x="1690015" y="143336"/>
                      <a:pt x="1679843" y="143336"/>
                    </a:cubicBezTo>
                    <a:lnTo>
                      <a:pt x="4450" y="143336"/>
                    </a:lnTo>
                    <a:cubicBezTo>
                      <a:pt x="2464" y="143336"/>
                      <a:pt x="718" y="142020"/>
                      <a:pt x="172" y="140110"/>
                    </a:cubicBezTo>
                    <a:cubicBezTo>
                      <a:pt x="-374" y="138200"/>
                      <a:pt x="412" y="136159"/>
                      <a:pt x="2098" y="135109"/>
                    </a:cubicBezTo>
                    <a:lnTo>
                      <a:pt x="205861" y="8227"/>
                    </a:lnTo>
                    <a:cubicBezTo>
                      <a:pt x="214496" y="2850"/>
                      <a:pt x="224465" y="0"/>
                      <a:pt x="234638"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
              <p:cNvSpPr txBox="1"/>
              <p:nvPr/>
            </p:nvSpPr>
            <p:spPr>
              <a:xfrm>
                <a:off x="254000" y="-9525"/>
                <a:ext cx="1428709" cy="152861"/>
              </a:xfrm>
              <a:prstGeom prst="rect">
                <a:avLst/>
              </a:prstGeom>
              <a:noFill/>
              <a:ln>
                <a:noFill/>
              </a:ln>
            </p:spPr>
            <p:txBody>
              <a:bodyPr spcFirstLastPara="1" wrap="square" lIns="50800" tIns="50800" rIns="50800" bIns="50800"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01" name="Google Shape;101;p1"/>
          <p:cNvSpPr txBox="1"/>
          <p:nvPr/>
        </p:nvSpPr>
        <p:spPr>
          <a:xfrm>
            <a:off x="1572083" y="681037"/>
            <a:ext cx="1232263" cy="254756"/>
          </a:xfrm>
          <a:prstGeom prst="rect">
            <a:avLst/>
          </a:prstGeom>
          <a:noFill/>
          <a:ln>
            <a:noFill/>
          </a:ln>
        </p:spPr>
        <p:txBody>
          <a:bodyPr spcFirstLastPara="1" wrap="square" lIns="0" tIns="0" rIns="0" bIns="0" anchor="t" anchorCtr="0">
            <a:spAutoFit/>
          </a:bodyPr>
          <a:lstStyle/>
          <a:p>
            <a:pPr marL="0" marR="0" lvl="0" indent="0" algn="ctr" rtl="0">
              <a:lnSpc>
                <a:spcPct val="140055"/>
              </a:lnSpc>
              <a:spcBef>
                <a:spcPts val="0"/>
              </a:spcBef>
              <a:spcAft>
                <a:spcPts val="0"/>
              </a:spcAft>
              <a:buNone/>
            </a:pPr>
            <a:r>
              <a:rPr lang="en-US" sz="1443" b="0" i="0" u="none" strike="noStrike" cap="none">
                <a:solidFill>
                  <a:srgbClr val="000000"/>
                </a:solidFill>
                <a:latin typeface="Poppins"/>
                <a:ea typeface="Poppins"/>
                <a:cs typeface="Poppins"/>
                <a:sym typeface="Poppins"/>
              </a:rPr>
              <a:t>Organised by</a:t>
            </a:r>
            <a:endParaRPr/>
          </a:p>
        </p:txBody>
      </p:sp>
      <p:sp>
        <p:nvSpPr>
          <p:cNvPr id="102" name="Google Shape;102;p1"/>
          <p:cNvSpPr txBox="1"/>
          <p:nvPr/>
        </p:nvSpPr>
        <p:spPr>
          <a:xfrm>
            <a:off x="6318290" y="681037"/>
            <a:ext cx="1727612" cy="254756"/>
          </a:xfrm>
          <a:prstGeom prst="rect">
            <a:avLst/>
          </a:prstGeom>
          <a:noFill/>
          <a:ln>
            <a:noFill/>
          </a:ln>
        </p:spPr>
        <p:txBody>
          <a:bodyPr spcFirstLastPara="1" wrap="square" lIns="0" tIns="0" rIns="0" bIns="0" anchor="t" anchorCtr="0">
            <a:spAutoFit/>
          </a:bodyPr>
          <a:lstStyle/>
          <a:p>
            <a:pPr marL="0" marR="0" lvl="0" indent="0" algn="ctr" rtl="0">
              <a:lnSpc>
                <a:spcPct val="140055"/>
              </a:lnSpc>
              <a:spcBef>
                <a:spcPts val="0"/>
              </a:spcBef>
              <a:spcAft>
                <a:spcPts val="0"/>
              </a:spcAft>
              <a:buNone/>
            </a:pPr>
            <a:r>
              <a:rPr lang="en-US" sz="1443" b="0" i="0" u="none" strike="noStrike" cap="none">
                <a:solidFill>
                  <a:srgbClr val="000000"/>
                </a:solidFill>
                <a:latin typeface="Poppins"/>
                <a:ea typeface="Poppins"/>
                <a:cs typeface="Poppins"/>
                <a:sym typeface="Poppins"/>
              </a:rPr>
              <a:t>In Association With</a:t>
            </a:r>
            <a:endParaRPr/>
          </a:p>
        </p:txBody>
      </p:sp>
      <p:cxnSp>
        <p:nvCxnSpPr>
          <p:cNvPr id="103" name="Google Shape;103;p1"/>
          <p:cNvCxnSpPr/>
          <p:nvPr/>
        </p:nvCxnSpPr>
        <p:spPr>
          <a:xfrm rot="10800000">
            <a:off x="3989738" y="891361"/>
            <a:ext cx="0" cy="1104127"/>
          </a:xfrm>
          <a:prstGeom prst="straightConnector1">
            <a:avLst/>
          </a:prstGeom>
          <a:noFill/>
          <a:ln w="9525" cap="flat" cmpd="sng">
            <a:solidFill>
              <a:srgbClr val="082276"/>
            </a:solidFill>
            <a:prstDash val="solid"/>
            <a:round/>
            <a:headEnd type="none" w="sm" len="sm"/>
            <a:tailEnd type="none" w="sm" len="sm"/>
          </a:ln>
        </p:spPr>
      </p:cxnSp>
      <p:pic>
        <p:nvPicPr>
          <p:cNvPr id="104" name="Google Shape;104;p1"/>
          <p:cNvPicPr preferRelativeResize="0"/>
          <p:nvPr/>
        </p:nvPicPr>
        <p:blipFill rotWithShape="1">
          <a:blip r:embed="rId6">
            <a:alphaModFix/>
          </a:blip>
          <a:srcRect/>
          <a:stretch/>
        </p:blipFill>
        <p:spPr>
          <a:xfrm>
            <a:off x="4162990" y="986940"/>
            <a:ext cx="6128779" cy="995798"/>
          </a:xfrm>
          <a:prstGeom prst="rect">
            <a:avLst/>
          </a:prstGeom>
          <a:noFill/>
          <a:ln>
            <a:noFill/>
          </a:ln>
        </p:spPr>
      </p:pic>
      <p:pic>
        <p:nvPicPr>
          <p:cNvPr id="105" name="Google Shape;105;p1"/>
          <p:cNvPicPr preferRelativeResize="0"/>
          <p:nvPr/>
        </p:nvPicPr>
        <p:blipFill rotWithShape="1">
          <a:blip r:embed="rId7">
            <a:alphaModFix/>
          </a:blip>
          <a:srcRect/>
          <a:stretch/>
        </p:blipFill>
        <p:spPr>
          <a:xfrm>
            <a:off x="10810875" y="4370883"/>
            <a:ext cx="7511131" cy="37197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485DB1-2212-ACEC-2613-5CDA50EB97AE}"/>
              </a:ext>
            </a:extLst>
          </p:cNvPr>
          <p:cNvSpPr txBox="1"/>
          <p:nvPr/>
        </p:nvSpPr>
        <p:spPr>
          <a:xfrm>
            <a:off x="434715" y="535660"/>
            <a:ext cx="9533743" cy="707886"/>
          </a:xfrm>
          <a:prstGeom prst="rect">
            <a:avLst/>
          </a:prstGeom>
          <a:noFill/>
        </p:spPr>
        <p:txBody>
          <a:bodyPr wrap="square">
            <a:spAutoFit/>
          </a:bodyPr>
          <a:lstStyle/>
          <a:p>
            <a:r>
              <a:rPr lang="en-IN" sz="4000" dirty="0">
                <a:solidFill>
                  <a:srgbClr val="FFFF00"/>
                </a:solidFill>
                <a:latin typeface="Alatsi" panose="020B0604020202020204" charset="0"/>
                <a:cs typeface="Alatsi" panose="020B0604020202020204" charset="0"/>
              </a:rPr>
              <a:t>The</a:t>
            </a:r>
            <a:r>
              <a:rPr lang="en-IN" sz="4000" dirty="0">
                <a:latin typeface="Alatsi" panose="020B0604020202020204" charset="0"/>
                <a:cs typeface="Alatsi" panose="020B0604020202020204" charset="0"/>
              </a:rPr>
              <a:t> </a:t>
            </a:r>
            <a:r>
              <a:rPr lang="en-IN" sz="4000" dirty="0">
                <a:solidFill>
                  <a:srgbClr val="FFFF00"/>
                </a:solidFill>
                <a:latin typeface="Alatsi" panose="020B0604020202020204" charset="0"/>
                <a:cs typeface="Alatsi" panose="020B0604020202020204" charset="0"/>
              </a:rPr>
              <a:t>Problem </a:t>
            </a:r>
          </a:p>
        </p:txBody>
      </p:sp>
      <p:grpSp>
        <p:nvGrpSpPr>
          <p:cNvPr id="4" name="Google Shape;179;p5">
            <a:extLst>
              <a:ext uri="{FF2B5EF4-FFF2-40B4-BE49-F238E27FC236}">
                <a16:creationId xmlns:a16="http://schemas.microsoft.com/office/drawing/2014/main" id="{786A6B49-C2D0-B898-81C2-355399EBE6BE}"/>
              </a:ext>
            </a:extLst>
          </p:cNvPr>
          <p:cNvGrpSpPr/>
          <p:nvPr/>
        </p:nvGrpSpPr>
        <p:grpSpPr>
          <a:xfrm>
            <a:off x="0" y="1243546"/>
            <a:ext cx="13832330" cy="262748"/>
            <a:chOff x="30192" y="-59703"/>
            <a:chExt cx="18443106" cy="350331"/>
          </a:xfrm>
        </p:grpSpPr>
        <p:grpSp>
          <p:nvGrpSpPr>
            <p:cNvPr id="5" name="Google Shape;180;p5">
              <a:extLst>
                <a:ext uri="{FF2B5EF4-FFF2-40B4-BE49-F238E27FC236}">
                  <a16:creationId xmlns:a16="http://schemas.microsoft.com/office/drawing/2014/main" id="{F379BFAD-061F-6EBA-9B9D-0BF80B651DC5}"/>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0ADDC44D-3923-1C4B-F71B-5FBC0A5A66CE}"/>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10F64AAD-4AD6-4577-95D6-CDFA0664F678}"/>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8BEA62EC-8B7A-48FB-1369-6F9E71F714F5}"/>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ABAB7C71-41C6-B952-436C-10714ADA78AE}"/>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319E7E0F-0C24-5CB9-8254-0314CC648401}"/>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8BA108D8-21A0-71AF-BB25-AA0DE21415F1}"/>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sp>
        <p:nvSpPr>
          <p:cNvPr id="12" name="Rectangle 1">
            <a:extLst>
              <a:ext uri="{FF2B5EF4-FFF2-40B4-BE49-F238E27FC236}">
                <a16:creationId xmlns:a16="http://schemas.microsoft.com/office/drawing/2014/main" id="{61B82966-796A-7CD3-9543-2D6D65D20359}"/>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4" name="TextBox 13">
            <a:extLst>
              <a:ext uri="{FF2B5EF4-FFF2-40B4-BE49-F238E27FC236}">
                <a16:creationId xmlns:a16="http://schemas.microsoft.com/office/drawing/2014/main" id="{E8542517-9838-7A6A-6BE5-11B597F11EE9}"/>
              </a:ext>
            </a:extLst>
          </p:cNvPr>
          <p:cNvSpPr txBox="1"/>
          <p:nvPr/>
        </p:nvSpPr>
        <p:spPr>
          <a:xfrm>
            <a:off x="271177" y="2056561"/>
            <a:ext cx="17122514" cy="249299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latsi" panose="020B0604020202020204" charset="0"/>
                <a:cs typeface="Alatsi" panose="020B0604020202020204" charset="0"/>
              </a:rPr>
              <a:t>Degradation:</a:t>
            </a:r>
            <a:r>
              <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rPr>
              <a:t> Ancient palm leaf manuscripts (</a:t>
            </a:r>
            <a:r>
              <a:rPr kumimoji="0" lang="ta-IN" altLang="en-US" sz="3200" b="0" i="0" u="none" strike="noStrike" cap="none" normalizeH="0" baseline="0" dirty="0">
                <a:ln>
                  <a:noFill/>
                </a:ln>
                <a:solidFill>
                  <a:schemeClr val="tx1"/>
                </a:solidFill>
                <a:effectLst/>
                <a:latin typeface="Alatsi" panose="020B0604020202020204" charset="0"/>
                <a:cs typeface="Latha" panose="020B0502040204020203" pitchFamily="34" charset="0"/>
              </a:rPr>
              <a:t>பனை ஓலை</a:t>
            </a:r>
            <a:r>
              <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rPr>
              <a:t>) are physically decaying, taking centuries of literature, medicine, and history with them</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44198D19-E4EC-B7F7-B605-E2ECC4847A4E}"/>
              </a:ext>
            </a:extLst>
          </p:cNvPr>
          <p:cNvSpPr txBox="1"/>
          <p:nvPr/>
        </p:nvSpPr>
        <p:spPr>
          <a:xfrm>
            <a:off x="271177" y="3109708"/>
            <a:ext cx="16957622" cy="243143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latsi" panose="020B0604020202020204" charset="0"/>
                <a:cs typeface="Alatsi" panose="020B0604020202020204" charset="0"/>
              </a:rPr>
              <a:t>The Language Barrier:</a:t>
            </a:r>
            <a:r>
              <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rPr>
              <a:t> Ancient Sangam-era Tamil and scripts are too complex for modern readers to understand without expert scholars.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latsi" panose="020B0604020202020204" charset="0"/>
                <a:cs typeface="Alatsi" panose="020B0604020202020204" charset="0"/>
              </a:rPr>
              <a:t>The Tech Gap:</a:t>
            </a:r>
            <a:r>
              <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rPr>
              <a:t> Standard cloud APIs fail at this because they are expensive, require constant internet, and pose privacy risks for sensitive historical artifacts</a:t>
            </a:r>
          </a:p>
          <a:p>
            <a:pPr marL="0" marR="0" lvl="0" indent="0" algn="l" defTabSz="914400" rtl="0" eaLnBrk="0" fontAlgn="base" latinLnBrk="0" hangingPunct="0">
              <a:lnSpc>
                <a:spcPct val="100000"/>
              </a:lnSpc>
              <a:spcBef>
                <a:spcPct val="0"/>
              </a:spcBef>
              <a:spcAft>
                <a:spcPct val="0"/>
              </a:spcAft>
              <a:buClrTx/>
              <a:buSzTx/>
              <a:buFontTx/>
              <a:buChar char="•"/>
              <a:tabLst/>
            </a:pPr>
            <a:endParaRPr lang="en-IN" sz="2400" dirty="0">
              <a:latin typeface="Alatsi" panose="020B0604020202020204" charset="0"/>
              <a:cs typeface="Alatsi" panose="020B0604020202020204" charset="0"/>
            </a:endParaRPr>
          </a:p>
        </p:txBody>
      </p:sp>
      <p:grpSp>
        <p:nvGrpSpPr>
          <p:cNvPr id="17" name="Google Shape;173;p5">
            <a:extLst>
              <a:ext uri="{FF2B5EF4-FFF2-40B4-BE49-F238E27FC236}">
                <a16:creationId xmlns:a16="http://schemas.microsoft.com/office/drawing/2014/main" id="{04588632-05EB-F6F9-550C-156A5A2F1300}"/>
              </a:ext>
            </a:extLst>
          </p:cNvPr>
          <p:cNvGrpSpPr/>
          <p:nvPr/>
        </p:nvGrpSpPr>
        <p:grpSpPr>
          <a:xfrm>
            <a:off x="0" y="9502168"/>
            <a:ext cx="10734327" cy="784832"/>
            <a:chOff x="0" y="-9525"/>
            <a:chExt cx="2000501" cy="146157"/>
          </a:xfrm>
        </p:grpSpPr>
        <p:sp>
          <p:nvSpPr>
            <p:cNvPr id="18" name="Google Shape;174;p5">
              <a:extLst>
                <a:ext uri="{FF2B5EF4-FFF2-40B4-BE49-F238E27FC236}">
                  <a16:creationId xmlns:a16="http://schemas.microsoft.com/office/drawing/2014/main" id="{9922BA8A-6E78-525D-FDF5-1AA364FB1319}"/>
                </a:ext>
              </a:extLst>
            </p:cNvPr>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19" name="Google Shape;175;p5">
              <a:extLst>
                <a:ext uri="{FF2B5EF4-FFF2-40B4-BE49-F238E27FC236}">
                  <a16:creationId xmlns:a16="http://schemas.microsoft.com/office/drawing/2014/main" id="{AC2CCF4A-55AA-2E21-00C2-73CBEF09F14C}"/>
                </a:ext>
              </a:extLst>
            </p:cNvPr>
            <p:cNvSpPr txBox="1"/>
            <p:nvPr/>
          </p:nvSpPr>
          <p:spPr>
            <a:xfrm>
              <a:off x="0" y="-9525"/>
              <a:ext cx="2000501" cy="146157"/>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 name="Google Shape;176;p5">
            <a:extLst>
              <a:ext uri="{FF2B5EF4-FFF2-40B4-BE49-F238E27FC236}">
                <a16:creationId xmlns:a16="http://schemas.microsoft.com/office/drawing/2014/main" id="{17CB16A9-DF88-7D90-36C6-54CF5877F691}"/>
              </a:ext>
            </a:extLst>
          </p:cNvPr>
          <p:cNvGrpSpPr/>
          <p:nvPr/>
        </p:nvGrpSpPr>
        <p:grpSpPr>
          <a:xfrm>
            <a:off x="7994858" y="9442045"/>
            <a:ext cx="11425677" cy="905078"/>
            <a:chOff x="3495" y="-9525"/>
            <a:chExt cx="1929718" cy="152861"/>
          </a:xfrm>
        </p:grpSpPr>
        <p:sp>
          <p:nvSpPr>
            <p:cNvPr id="21" name="Google Shape;177;p5">
              <a:extLst>
                <a:ext uri="{FF2B5EF4-FFF2-40B4-BE49-F238E27FC236}">
                  <a16:creationId xmlns:a16="http://schemas.microsoft.com/office/drawing/2014/main" id="{B59E093A-1957-1D0C-C953-AEA54C3E66D6}"/>
                </a:ext>
              </a:extLst>
            </p:cNvPr>
            <p:cNvSpPr/>
            <p:nvPr/>
          </p:nvSpPr>
          <p:spPr>
            <a:xfrm>
              <a:off x="3495" y="0"/>
              <a:ext cx="1929718" cy="143336"/>
            </a:xfrm>
            <a:custGeom>
              <a:avLst/>
              <a:gdLst/>
              <a:ahLst/>
              <a:cxnLst/>
              <a:rect l="l" t="t" r="r" b="b"/>
              <a:pathLst>
                <a:path w="1929718" h="143336" extrusionOk="0">
                  <a:moveTo>
                    <a:pt x="231587" y="0"/>
                  </a:moveTo>
                  <a:lnTo>
                    <a:pt x="1928319" y="0"/>
                  </a:lnTo>
                  <a:cubicBezTo>
                    <a:pt x="1928944" y="0"/>
                    <a:pt x="1929493" y="414"/>
                    <a:pt x="1929665" y="1015"/>
                  </a:cubicBezTo>
                  <a:cubicBezTo>
                    <a:pt x="1929836" y="1615"/>
                    <a:pt x="1929589" y="2257"/>
                    <a:pt x="1929059" y="2587"/>
                  </a:cubicBezTo>
                  <a:lnTo>
                    <a:pt x="1707182" y="140749"/>
                  </a:lnTo>
                  <a:cubicBezTo>
                    <a:pt x="1704466" y="142440"/>
                    <a:pt x="1701331" y="143336"/>
                    <a:pt x="1698132" y="143336"/>
                  </a:cubicBezTo>
                  <a:lnTo>
                    <a:pt x="1400" y="143336"/>
                  </a:lnTo>
                  <a:cubicBezTo>
                    <a:pt x="775" y="143336"/>
                    <a:pt x="226" y="142922"/>
                    <a:pt x="54" y="142322"/>
                  </a:cubicBezTo>
                  <a:cubicBezTo>
                    <a:pt x="-117" y="141721"/>
                    <a:pt x="130" y="141079"/>
                    <a:pt x="660" y="140749"/>
                  </a:cubicBezTo>
                  <a:lnTo>
                    <a:pt x="222537" y="2587"/>
                  </a:lnTo>
                  <a:cubicBezTo>
                    <a:pt x="225253" y="896"/>
                    <a:pt x="228388" y="0"/>
                    <a:pt x="231587"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8;p5">
              <a:extLst>
                <a:ext uri="{FF2B5EF4-FFF2-40B4-BE49-F238E27FC236}">
                  <a16:creationId xmlns:a16="http://schemas.microsoft.com/office/drawing/2014/main" id="{95BD0FE9-0E03-3DB6-E54B-3C3BF663235D}"/>
                </a:ext>
              </a:extLst>
            </p:cNvPr>
            <p:cNvSpPr txBox="1"/>
            <p:nvPr/>
          </p:nvSpPr>
          <p:spPr>
            <a:xfrm>
              <a:off x="254000" y="-9525"/>
              <a:ext cx="1428709" cy="15286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 name="TextBox 23">
            <a:extLst>
              <a:ext uri="{FF2B5EF4-FFF2-40B4-BE49-F238E27FC236}">
                <a16:creationId xmlns:a16="http://schemas.microsoft.com/office/drawing/2014/main" id="{E2354271-DAED-84AC-0033-A228E79577B5}"/>
              </a:ext>
            </a:extLst>
          </p:cNvPr>
          <p:cNvSpPr txBox="1"/>
          <p:nvPr/>
        </p:nvSpPr>
        <p:spPr>
          <a:xfrm>
            <a:off x="248786" y="5200845"/>
            <a:ext cx="16586616" cy="1077218"/>
          </a:xfrm>
          <a:prstGeom prst="rect">
            <a:avLst/>
          </a:prstGeom>
          <a:noFill/>
        </p:spPr>
        <p:txBody>
          <a:bodyPr wrap="square">
            <a:spAutoFit/>
          </a:bodyPr>
          <a:lstStyle/>
          <a:p>
            <a:r>
              <a:rPr lang="en-US" sz="3200" b="1" dirty="0">
                <a:latin typeface="Alatsi" panose="020B0604020202020204" charset="0"/>
                <a:cs typeface="Alatsi" panose="020B0604020202020204" charset="0"/>
              </a:rPr>
              <a:t>Locked Scientific Heritage:</a:t>
            </a:r>
            <a:r>
              <a:rPr lang="en-US" sz="3200" dirty="0">
                <a:latin typeface="Alatsi" panose="020B0604020202020204" charset="0"/>
                <a:cs typeface="Alatsi" panose="020B0604020202020204" charset="0"/>
              </a:rPr>
              <a:t> It’s not just poetry. Crucial knowledge about Siddha medicine, ancient architecture, and astronomy remains entirely locked away from modern researchers.</a:t>
            </a:r>
            <a:endParaRPr lang="en-IN" sz="3200" dirty="0">
              <a:latin typeface="Alatsi" panose="020B0604020202020204" charset="0"/>
              <a:cs typeface="Alatsi" panose="020B0604020202020204" charset="0"/>
            </a:endParaRPr>
          </a:p>
        </p:txBody>
      </p:sp>
    </p:spTree>
    <p:extLst>
      <p:ext uri="{BB962C8B-B14F-4D97-AF65-F5344CB8AC3E}">
        <p14:creationId xmlns:p14="http://schemas.microsoft.com/office/powerpoint/2010/main" val="2887058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ED5097-4514-2C63-123C-FD705262A4AC}"/>
              </a:ext>
            </a:extLst>
          </p:cNvPr>
          <p:cNvSpPr txBox="1"/>
          <p:nvPr/>
        </p:nvSpPr>
        <p:spPr>
          <a:xfrm>
            <a:off x="449705" y="385758"/>
            <a:ext cx="9144000" cy="707886"/>
          </a:xfrm>
          <a:prstGeom prst="rect">
            <a:avLst/>
          </a:prstGeom>
          <a:noFill/>
        </p:spPr>
        <p:txBody>
          <a:bodyPr wrap="square">
            <a:spAutoFit/>
          </a:bodyPr>
          <a:lstStyle/>
          <a:p>
            <a:r>
              <a:rPr lang="en-IN" sz="4000" dirty="0">
                <a:solidFill>
                  <a:srgbClr val="FFFF00"/>
                </a:solidFill>
                <a:latin typeface="Alatsi" panose="020B0604020202020204" charset="0"/>
                <a:cs typeface="Alatsi" panose="020B0604020202020204" charset="0"/>
              </a:rPr>
              <a:t>Action &amp; Impact</a:t>
            </a:r>
          </a:p>
        </p:txBody>
      </p:sp>
      <p:grpSp>
        <p:nvGrpSpPr>
          <p:cNvPr id="4" name="Google Shape;179;p5">
            <a:extLst>
              <a:ext uri="{FF2B5EF4-FFF2-40B4-BE49-F238E27FC236}">
                <a16:creationId xmlns:a16="http://schemas.microsoft.com/office/drawing/2014/main" id="{A265E856-AC37-2A76-6A68-FC678FC9DA81}"/>
              </a:ext>
            </a:extLst>
          </p:cNvPr>
          <p:cNvGrpSpPr/>
          <p:nvPr/>
        </p:nvGrpSpPr>
        <p:grpSpPr>
          <a:xfrm>
            <a:off x="-149902" y="1093644"/>
            <a:ext cx="13832330" cy="262748"/>
            <a:chOff x="30192" y="-59703"/>
            <a:chExt cx="18443106" cy="350331"/>
          </a:xfrm>
        </p:grpSpPr>
        <p:grpSp>
          <p:nvGrpSpPr>
            <p:cNvPr id="5" name="Google Shape;180;p5">
              <a:extLst>
                <a:ext uri="{FF2B5EF4-FFF2-40B4-BE49-F238E27FC236}">
                  <a16:creationId xmlns:a16="http://schemas.microsoft.com/office/drawing/2014/main" id="{4940B0DD-64F0-9EF6-6E2D-26D5053CC5E3}"/>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83FA65A6-AB13-43B1-DE90-FC936B88CA59}"/>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56232340-C603-CEF4-22FD-CEF032455DB9}"/>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55FEB966-D5EA-7AFD-DEF3-37C3344B640C}"/>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F360CD68-CFA3-CEA8-6AA6-7442690804F6}"/>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E5037484-8B9E-8B06-AF51-A0E804D0D340}"/>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DB4BA492-4C82-AA13-EB67-B11BC8DB5FEB}"/>
              </a:ext>
            </a:extLst>
          </p:cNvPr>
          <p:cNvPicPr preferRelativeResize="0"/>
          <p:nvPr/>
        </p:nvPicPr>
        <p:blipFill rotWithShape="1">
          <a:blip r:embed="rId3">
            <a:alphaModFix/>
          </a:blip>
          <a:srcRect/>
          <a:stretch/>
        </p:blipFill>
        <p:spPr>
          <a:xfrm>
            <a:off x="14614925" y="0"/>
            <a:ext cx="3348031" cy="1583846"/>
          </a:xfrm>
          <a:prstGeom prst="rect">
            <a:avLst/>
          </a:prstGeom>
          <a:noFill/>
          <a:ln>
            <a:noFill/>
          </a:ln>
        </p:spPr>
      </p:pic>
      <p:sp>
        <p:nvSpPr>
          <p:cNvPr id="13" name="TextBox 12">
            <a:extLst>
              <a:ext uri="{FF2B5EF4-FFF2-40B4-BE49-F238E27FC236}">
                <a16:creationId xmlns:a16="http://schemas.microsoft.com/office/drawing/2014/main" id="{45203EFC-A722-8414-EA33-2B3D9360AC64}"/>
              </a:ext>
            </a:extLst>
          </p:cNvPr>
          <p:cNvSpPr txBox="1"/>
          <p:nvPr/>
        </p:nvSpPr>
        <p:spPr>
          <a:xfrm>
            <a:off x="374752" y="1647641"/>
            <a:ext cx="9713627" cy="9694962"/>
          </a:xfrm>
          <a:prstGeom prst="rect">
            <a:avLst/>
          </a:prstGeom>
          <a:noFill/>
        </p:spPr>
        <p:txBody>
          <a:bodyPr wrap="square">
            <a:spAutoFit/>
          </a:bodyPr>
          <a:lstStyle/>
          <a:p>
            <a:pPr marL="457200" indent="-457200">
              <a:buAutoNum type="arabicPeriod"/>
            </a:pPr>
            <a:r>
              <a:rPr lang="en-US" sz="2400" b="1" dirty="0"/>
              <a:t>Medical Breakthroughs (Siddha &amp; </a:t>
            </a:r>
            <a:r>
              <a:rPr lang="en-US" sz="2400" b="1" dirty="0" err="1"/>
              <a:t>Varmam</a:t>
            </a:r>
            <a:endParaRPr lang="en-US" sz="2400" b="1" dirty="0"/>
          </a:p>
          <a:p>
            <a:endParaRPr lang="en-US" sz="2400" dirty="0"/>
          </a:p>
          <a:p>
            <a:r>
              <a:rPr lang="en-US" sz="2400" b="1" dirty="0"/>
              <a:t>The Past:</a:t>
            </a:r>
            <a:r>
              <a:rPr lang="en-US" sz="2400" dirty="0"/>
              <a:t> Deciphered texts (</a:t>
            </a:r>
            <a:r>
              <a:rPr lang="en-US" sz="2400" i="1" dirty="0" err="1"/>
              <a:t>Varmam</a:t>
            </a:r>
            <a:r>
              <a:rPr lang="en-US" sz="2400" i="1" dirty="0"/>
              <a:t> </a:t>
            </a:r>
            <a:r>
              <a:rPr lang="en-US" sz="2400" i="1" dirty="0" err="1"/>
              <a:t>Beerangi</a:t>
            </a:r>
            <a:r>
              <a:rPr lang="en-US" sz="2400" dirty="0"/>
              <a:t>) revived lost neuro-stimulation therapies.</a:t>
            </a:r>
          </a:p>
          <a:p>
            <a:endParaRPr lang="en-US" sz="2400" dirty="0"/>
          </a:p>
          <a:p>
            <a:r>
              <a:rPr lang="en-US" sz="2400" b="1" dirty="0"/>
              <a:t>The AI Impact:</a:t>
            </a:r>
            <a:r>
              <a:rPr lang="en-US" sz="2400" dirty="0"/>
              <a:t> </a:t>
            </a:r>
            <a:r>
              <a:rPr lang="en-US" sz="2400" dirty="0" err="1"/>
              <a:t>HeritageAI</a:t>
            </a:r>
            <a:r>
              <a:rPr lang="en-US" sz="2400" dirty="0"/>
              <a:t> can instantly extract forgotten herbal and nanomedicine formulas to aid modern medical research.</a:t>
            </a:r>
          </a:p>
          <a:p>
            <a:endParaRPr lang="en-US" sz="2400" dirty="0"/>
          </a:p>
          <a:p>
            <a:r>
              <a:rPr lang="en-US" sz="2400" b="1" dirty="0"/>
              <a:t>2. Uncovering Lost History (The 2023 Crisis)</a:t>
            </a:r>
          </a:p>
          <a:p>
            <a:endParaRPr lang="en-US" sz="2400" dirty="0"/>
          </a:p>
          <a:p>
            <a:r>
              <a:rPr lang="en-US" sz="2400" b="1" dirty="0"/>
              <a:t>The Event:</a:t>
            </a:r>
            <a:r>
              <a:rPr lang="en-US" sz="2400" dirty="0"/>
              <a:t> 19 rare, decaying manuscript bundles were just found in a Tuticorin temple in April 2023.</a:t>
            </a:r>
          </a:p>
          <a:p>
            <a:endParaRPr lang="en-US" sz="2400" dirty="0"/>
          </a:p>
          <a:p>
            <a:r>
              <a:rPr lang="en-US" sz="2400" b="1" dirty="0"/>
              <a:t>The AI Impact:</a:t>
            </a:r>
            <a:r>
              <a:rPr lang="en-US" sz="2400" dirty="0"/>
              <a:t> What took archaeologists weeks of painstaking manual translation last year can now be digitized on Day 1.</a:t>
            </a:r>
          </a:p>
          <a:p>
            <a:endParaRPr lang="en-US" sz="2400" dirty="0"/>
          </a:p>
          <a:p>
            <a:r>
              <a:rPr lang="en-US" sz="2400" b="1" dirty="0"/>
              <a:t>3. Scaling Preservation (A Lifetime in Seconds)</a:t>
            </a:r>
          </a:p>
          <a:p>
            <a:endParaRPr lang="en-US" sz="2400" dirty="0"/>
          </a:p>
          <a:p>
            <a:r>
              <a:rPr lang="en-US" sz="2400" b="1" dirty="0"/>
              <a:t>The Legend:</a:t>
            </a:r>
            <a:r>
              <a:rPr lang="en-US" sz="2400" dirty="0"/>
              <a:t> Scholar U.V. Swaminatha Iyer spent his </a:t>
            </a:r>
            <a:r>
              <a:rPr lang="en-US" sz="2400" i="1" dirty="0"/>
              <a:t>entire lifetime</a:t>
            </a:r>
            <a:r>
              <a:rPr lang="en-US" sz="2400" dirty="0"/>
              <a:t> walking across Tamil Nadu to save the Sangam epics.</a:t>
            </a:r>
          </a:p>
          <a:p>
            <a:endParaRPr lang="en-US" sz="2400" dirty="0"/>
          </a:p>
          <a:p>
            <a:r>
              <a:rPr lang="en-US" sz="2400" b="1" dirty="0"/>
              <a:t>The AI Impact:</a:t>
            </a:r>
            <a:r>
              <a:rPr lang="en-US" sz="2400" dirty="0"/>
              <a:t> </a:t>
            </a:r>
            <a:r>
              <a:rPr lang="en-US" sz="2400" dirty="0" err="1"/>
              <a:t>HeritageAI</a:t>
            </a:r>
            <a:r>
              <a:rPr lang="en-US" sz="2400" dirty="0"/>
              <a:t> automates a lifetime of manual deciphering into a 2.5-second scan, saving history before it rots away.</a:t>
            </a:r>
          </a:p>
          <a:p>
            <a:endParaRPr lang="en-IN" sz="2400" dirty="0">
              <a:latin typeface="Alatsi" panose="020B0604020202020204" charset="0"/>
              <a:cs typeface="Alatsi" panose="020B0604020202020204" charset="0"/>
            </a:endParaRPr>
          </a:p>
          <a:p>
            <a:endParaRPr lang="en-IN" sz="2400" dirty="0">
              <a:latin typeface="Alatsi" panose="020B0604020202020204" charset="0"/>
              <a:cs typeface="Alatsi" panose="020B0604020202020204" charset="0"/>
            </a:endParaRPr>
          </a:p>
        </p:txBody>
      </p:sp>
      <p:pic>
        <p:nvPicPr>
          <p:cNvPr id="2050" name="Picture 2" descr="How A Scottish Trader's Murder Led To The Discovery Of One Of India's  Oldest Surviving Manuscripts | Madras Courier">
            <a:extLst>
              <a:ext uri="{FF2B5EF4-FFF2-40B4-BE49-F238E27FC236}">
                <a16:creationId xmlns:a16="http://schemas.microsoft.com/office/drawing/2014/main" id="{6BC6B931-238F-F3A7-F7E8-5EE91C3600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0004" y="4386408"/>
            <a:ext cx="4670120" cy="312160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Varma Kalai (the art of vital points) | Moni's Academy">
            <a:extLst>
              <a:ext uri="{FF2B5EF4-FFF2-40B4-BE49-F238E27FC236}">
                <a16:creationId xmlns:a16="http://schemas.microsoft.com/office/drawing/2014/main" id="{A1945920-234F-15A7-1B79-7F331A9224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80004" y="1737925"/>
            <a:ext cx="4670120" cy="22669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robing the Significance of Sangam Poetry in Tamil Society">
            <a:extLst>
              <a:ext uri="{FF2B5EF4-FFF2-40B4-BE49-F238E27FC236}">
                <a16:creationId xmlns:a16="http://schemas.microsoft.com/office/drawing/2014/main" id="{45189249-E970-CDEE-D8CA-B31EDF2678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53272" y="7889548"/>
            <a:ext cx="4946754" cy="226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798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778C1B-44EB-D5F5-C143-D60459549672}"/>
              </a:ext>
            </a:extLst>
          </p:cNvPr>
          <p:cNvSpPr txBox="1"/>
          <p:nvPr/>
        </p:nvSpPr>
        <p:spPr>
          <a:xfrm>
            <a:off x="194872" y="164249"/>
            <a:ext cx="9144000" cy="707886"/>
          </a:xfrm>
          <a:prstGeom prst="rect">
            <a:avLst/>
          </a:prstGeom>
          <a:noFill/>
        </p:spPr>
        <p:txBody>
          <a:bodyPr wrap="square">
            <a:spAutoFit/>
          </a:bodyPr>
          <a:lstStyle/>
          <a:p>
            <a:r>
              <a:rPr lang="en-IN" sz="4000" dirty="0">
                <a:solidFill>
                  <a:srgbClr val="FFFF00"/>
                </a:solidFill>
                <a:latin typeface="Alatsi" panose="020B0604020202020204" charset="0"/>
                <a:cs typeface="Alatsi" panose="020B0604020202020204" charset="0"/>
              </a:rPr>
              <a:t>Our Solution</a:t>
            </a:r>
          </a:p>
        </p:txBody>
      </p:sp>
      <p:grpSp>
        <p:nvGrpSpPr>
          <p:cNvPr id="6" name="Google Shape;179;p5">
            <a:extLst>
              <a:ext uri="{FF2B5EF4-FFF2-40B4-BE49-F238E27FC236}">
                <a16:creationId xmlns:a16="http://schemas.microsoft.com/office/drawing/2014/main" id="{2748B117-1CAA-A291-D70E-E26549ED0C98}"/>
              </a:ext>
            </a:extLst>
          </p:cNvPr>
          <p:cNvGrpSpPr/>
          <p:nvPr/>
        </p:nvGrpSpPr>
        <p:grpSpPr>
          <a:xfrm>
            <a:off x="-104931" y="923282"/>
            <a:ext cx="13832330" cy="262748"/>
            <a:chOff x="30192" y="-59703"/>
            <a:chExt cx="18443106" cy="350331"/>
          </a:xfrm>
        </p:grpSpPr>
        <p:grpSp>
          <p:nvGrpSpPr>
            <p:cNvPr id="7" name="Google Shape;180;p5">
              <a:extLst>
                <a:ext uri="{FF2B5EF4-FFF2-40B4-BE49-F238E27FC236}">
                  <a16:creationId xmlns:a16="http://schemas.microsoft.com/office/drawing/2014/main" id="{BC9EB882-7ED1-6A54-08DB-13AB7D334463}"/>
                </a:ext>
              </a:extLst>
            </p:cNvPr>
            <p:cNvGrpSpPr/>
            <p:nvPr/>
          </p:nvGrpSpPr>
          <p:grpSpPr>
            <a:xfrm>
              <a:off x="4672369" y="-59703"/>
              <a:ext cx="13800930" cy="350331"/>
              <a:chOff x="4861" y="-9525"/>
              <a:chExt cx="2201802" cy="55892"/>
            </a:xfrm>
          </p:grpSpPr>
          <p:sp>
            <p:nvSpPr>
              <p:cNvPr id="11" name="Google Shape;181;p5">
                <a:extLst>
                  <a:ext uri="{FF2B5EF4-FFF2-40B4-BE49-F238E27FC236}">
                    <a16:creationId xmlns:a16="http://schemas.microsoft.com/office/drawing/2014/main" id="{C8C063D0-C3D4-E05A-6767-9DD7233D6645}"/>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82;p5">
                <a:extLst>
                  <a:ext uri="{FF2B5EF4-FFF2-40B4-BE49-F238E27FC236}">
                    <a16:creationId xmlns:a16="http://schemas.microsoft.com/office/drawing/2014/main" id="{13CE5042-038B-F904-4343-40F46C8772A0}"/>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 name="Google Shape;183;p5">
              <a:extLst>
                <a:ext uri="{FF2B5EF4-FFF2-40B4-BE49-F238E27FC236}">
                  <a16:creationId xmlns:a16="http://schemas.microsoft.com/office/drawing/2014/main" id="{06E64B56-2FA0-A8E4-E9AF-856D123AA029}"/>
                </a:ext>
              </a:extLst>
            </p:cNvPr>
            <p:cNvGrpSpPr/>
            <p:nvPr/>
          </p:nvGrpSpPr>
          <p:grpSpPr>
            <a:xfrm>
              <a:off x="30192" y="-52383"/>
              <a:ext cx="12026498" cy="343011"/>
              <a:chOff x="5490" y="-9525"/>
              <a:chExt cx="2186822" cy="62371"/>
            </a:xfrm>
          </p:grpSpPr>
          <p:sp>
            <p:nvSpPr>
              <p:cNvPr id="9" name="Google Shape;184;p5">
                <a:extLst>
                  <a:ext uri="{FF2B5EF4-FFF2-40B4-BE49-F238E27FC236}">
                    <a16:creationId xmlns:a16="http://schemas.microsoft.com/office/drawing/2014/main" id="{7F3AC9C9-0096-FB34-2DB3-784D4BB66548}"/>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5;p5">
                <a:extLst>
                  <a:ext uri="{FF2B5EF4-FFF2-40B4-BE49-F238E27FC236}">
                    <a16:creationId xmlns:a16="http://schemas.microsoft.com/office/drawing/2014/main" id="{0D8DF4E0-0790-A3BE-3028-BDEEFC5ED1E1}"/>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3" name="Google Shape;188;p5">
            <a:extLst>
              <a:ext uri="{FF2B5EF4-FFF2-40B4-BE49-F238E27FC236}">
                <a16:creationId xmlns:a16="http://schemas.microsoft.com/office/drawing/2014/main" id="{E72F3D89-A6F1-B8AE-E2EA-7B6ED20A3B42}"/>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grpSp>
        <p:nvGrpSpPr>
          <p:cNvPr id="17" name="Google Shape;173;p5">
            <a:extLst>
              <a:ext uri="{FF2B5EF4-FFF2-40B4-BE49-F238E27FC236}">
                <a16:creationId xmlns:a16="http://schemas.microsoft.com/office/drawing/2014/main" id="{CA063F54-EC3F-9F72-883D-3FB53E45E6AD}"/>
              </a:ext>
            </a:extLst>
          </p:cNvPr>
          <p:cNvGrpSpPr/>
          <p:nvPr/>
        </p:nvGrpSpPr>
        <p:grpSpPr>
          <a:xfrm>
            <a:off x="0" y="9478847"/>
            <a:ext cx="10734327" cy="784832"/>
            <a:chOff x="0" y="-9525"/>
            <a:chExt cx="2000501" cy="146157"/>
          </a:xfrm>
        </p:grpSpPr>
        <p:sp>
          <p:nvSpPr>
            <p:cNvPr id="18" name="Google Shape;174;p5">
              <a:extLst>
                <a:ext uri="{FF2B5EF4-FFF2-40B4-BE49-F238E27FC236}">
                  <a16:creationId xmlns:a16="http://schemas.microsoft.com/office/drawing/2014/main" id="{8667FD41-854C-6F1D-CAA4-99B79F32252C}"/>
                </a:ext>
              </a:extLst>
            </p:cNvPr>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19" name="Google Shape;175;p5">
              <a:extLst>
                <a:ext uri="{FF2B5EF4-FFF2-40B4-BE49-F238E27FC236}">
                  <a16:creationId xmlns:a16="http://schemas.microsoft.com/office/drawing/2014/main" id="{DD42F68B-AC07-12A9-589F-C323D58E2C13}"/>
                </a:ext>
              </a:extLst>
            </p:cNvPr>
            <p:cNvSpPr txBox="1"/>
            <p:nvPr/>
          </p:nvSpPr>
          <p:spPr>
            <a:xfrm>
              <a:off x="0" y="-9525"/>
              <a:ext cx="2000501" cy="146157"/>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 name="Google Shape;176;p5">
            <a:extLst>
              <a:ext uri="{FF2B5EF4-FFF2-40B4-BE49-F238E27FC236}">
                <a16:creationId xmlns:a16="http://schemas.microsoft.com/office/drawing/2014/main" id="{44EB5EE2-198C-966A-C548-BC7245190CC4}"/>
              </a:ext>
            </a:extLst>
          </p:cNvPr>
          <p:cNvGrpSpPr/>
          <p:nvPr/>
        </p:nvGrpSpPr>
        <p:grpSpPr>
          <a:xfrm>
            <a:off x="7530163" y="9358601"/>
            <a:ext cx="11425677" cy="905078"/>
            <a:chOff x="3495" y="-9525"/>
            <a:chExt cx="1929718" cy="152861"/>
          </a:xfrm>
        </p:grpSpPr>
        <p:sp>
          <p:nvSpPr>
            <p:cNvPr id="21" name="Google Shape;177;p5">
              <a:extLst>
                <a:ext uri="{FF2B5EF4-FFF2-40B4-BE49-F238E27FC236}">
                  <a16:creationId xmlns:a16="http://schemas.microsoft.com/office/drawing/2014/main" id="{D8449654-3BD9-5A40-CF29-1095E41BDDA4}"/>
                </a:ext>
              </a:extLst>
            </p:cNvPr>
            <p:cNvSpPr/>
            <p:nvPr/>
          </p:nvSpPr>
          <p:spPr>
            <a:xfrm>
              <a:off x="3495" y="0"/>
              <a:ext cx="1929718" cy="143336"/>
            </a:xfrm>
            <a:custGeom>
              <a:avLst/>
              <a:gdLst/>
              <a:ahLst/>
              <a:cxnLst/>
              <a:rect l="l" t="t" r="r" b="b"/>
              <a:pathLst>
                <a:path w="1929718" h="143336" extrusionOk="0">
                  <a:moveTo>
                    <a:pt x="231587" y="0"/>
                  </a:moveTo>
                  <a:lnTo>
                    <a:pt x="1928319" y="0"/>
                  </a:lnTo>
                  <a:cubicBezTo>
                    <a:pt x="1928944" y="0"/>
                    <a:pt x="1929493" y="414"/>
                    <a:pt x="1929665" y="1015"/>
                  </a:cubicBezTo>
                  <a:cubicBezTo>
                    <a:pt x="1929836" y="1615"/>
                    <a:pt x="1929589" y="2257"/>
                    <a:pt x="1929059" y="2587"/>
                  </a:cubicBezTo>
                  <a:lnTo>
                    <a:pt x="1707182" y="140749"/>
                  </a:lnTo>
                  <a:cubicBezTo>
                    <a:pt x="1704466" y="142440"/>
                    <a:pt x="1701331" y="143336"/>
                    <a:pt x="1698132" y="143336"/>
                  </a:cubicBezTo>
                  <a:lnTo>
                    <a:pt x="1400" y="143336"/>
                  </a:lnTo>
                  <a:cubicBezTo>
                    <a:pt x="775" y="143336"/>
                    <a:pt x="226" y="142922"/>
                    <a:pt x="54" y="142322"/>
                  </a:cubicBezTo>
                  <a:cubicBezTo>
                    <a:pt x="-117" y="141721"/>
                    <a:pt x="130" y="141079"/>
                    <a:pt x="660" y="140749"/>
                  </a:cubicBezTo>
                  <a:lnTo>
                    <a:pt x="222537" y="2587"/>
                  </a:lnTo>
                  <a:cubicBezTo>
                    <a:pt x="225253" y="896"/>
                    <a:pt x="228388" y="0"/>
                    <a:pt x="231587"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8;p5">
              <a:extLst>
                <a:ext uri="{FF2B5EF4-FFF2-40B4-BE49-F238E27FC236}">
                  <a16:creationId xmlns:a16="http://schemas.microsoft.com/office/drawing/2014/main" id="{7244C0C8-54C6-D0FD-B254-DE180A7910D4}"/>
                </a:ext>
              </a:extLst>
            </p:cNvPr>
            <p:cNvSpPr txBox="1"/>
            <p:nvPr/>
          </p:nvSpPr>
          <p:spPr>
            <a:xfrm>
              <a:off x="254000" y="-9525"/>
              <a:ext cx="1428709" cy="15286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 name="Rectangle 1">
            <a:extLst>
              <a:ext uri="{FF2B5EF4-FFF2-40B4-BE49-F238E27FC236}">
                <a16:creationId xmlns:a16="http://schemas.microsoft.com/office/drawing/2014/main" id="{F6CE5B74-9B78-20A1-5C2E-3F9437E71B79}"/>
              </a:ext>
            </a:extLst>
          </p:cNvPr>
          <p:cNvSpPr>
            <a:spLocks noChangeArrowheads="1"/>
          </p:cNvSpPr>
          <p:nvPr/>
        </p:nvSpPr>
        <p:spPr bwMode="auto">
          <a:xfrm>
            <a:off x="0" y="1281954"/>
            <a:ext cx="17299929"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ClrTx/>
              <a:buFontTx/>
              <a:buChar char="•"/>
            </a:pPr>
            <a:r>
              <a:rPr lang="en-US" altLang="en-US" sz="2800" b="1" dirty="0">
                <a:solidFill>
                  <a:schemeClr val="tx1"/>
                </a:solidFill>
                <a:latin typeface="Alatsi" panose="020B0604020202020204" charset="0"/>
                <a:cs typeface="Alatsi" panose="020B0604020202020204" charset="0"/>
              </a:rPr>
              <a:t>Fully Online Platform:</a:t>
            </a:r>
            <a:r>
              <a:rPr lang="en-US" altLang="en-US" sz="2800" dirty="0">
                <a:solidFill>
                  <a:schemeClr val="tx1"/>
                </a:solidFill>
                <a:latin typeface="Alatsi" panose="020B0604020202020204" charset="0"/>
                <a:cs typeface="Alatsi" panose="020B0604020202020204" charset="0"/>
              </a:rPr>
              <a:t> Built as a seamless, cloud-hosted web application accessible from any standard browser.</a:t>
            </a:r>
          </a:p>
          <a:p>
            <a:pPr lvl="0" eaLnBrk="0" fontAlgn="base" hangingPunct="0">
              <a:spcBef>
                <a:spcPct val="0"/>
              </a:spcBef>
              <a:spcAft>
                <a:spcPct val="0"/>
              </a:spcAft>
              <a:buClrTx/>
              <a:buFontTx/>
              <a:buChar char="•"/>
            </a:pPr>
            <a:endParaRPr lang="en-US" altLang="en-US" sz="2800" dirty="0">
              <a:solidFill>
                <a:schemeClr val="tx1"/>
              </a:solidFill>
              <a:latin typeface="Alatsi" panose="020B0604020202020204" charset="0"/>
              <a:cs typeface="Alatsi" panose="020B0604020202020204" charset="0"/>
            </a:endParaRPr>
          </a:p>
          <a:p>
            <a:pPr lvl="0" eaLnBrk="0" fontAlgn="base" hangingPunct="0">
              <a:spcBef>
                <a:spcPct val="0"/>
              </a:spcBef>
              <a:spcAft>
                <a:spcPct val="0"/>
              </a:spcAft>
              <a:buClrTx/>
              <a:buFontTx/>
              <a:buChar char="•"/>
            </a:pPr>
            <a:r>
              <a:rPr lang="en-US" altLang="en-US" sz="2800" b="1" dirty="0">
                <a:solidFill>
                  <a:schemeClr val="tx1"/>
                </a:solidFill>
                <a:latin typeface="Alatsi" panose="020B0604020202020204" charset="0"/>
                <a:cs typeface="Alatsi" panose="020B0604020202020204" charset="0"/>
              </a:rPr>
              <a:t>Cloud-Powered AI:</a:t>
            </a:r>
            <a:r>
              <a:rPr lang="en-US" altLang="en-US" sz="2800" dirty="0">
                <a:solidFill>
                  <a:schemeClr val="tx1"/>
                </a:solidFill>
                <a:latin typeface="Alatsi" panose="020B0604020202020204" charset="0"/>
                <a:cs typeface="Alatsi" panose="020B0604020202020204" charset="0"/>
              </a:rPr>
              <a:t> Offloads the heavy "brain power" to the Gemini Generative Language API, meaning it runs</a:t>
            </a:r>
          </a:p>
          <a:p>
            <a:pPr lvl="0" eaLnBrk="0" fontAlgn="base" hangingPunct="0">
              <a:spcBef>
                <a:spcPct val="0"/>
              </a:spcBef>
              <a:spcAft>
                <a:spcPct val="0"/>
              </a:spcAft>
              <a:buClrTx/>
            </a:pPr>
            <a:r>
              <a:rPr lang="en-US" altLang="en-US" sz="2800" dirty="0">
                <a:solidFill>
                  <a:schemeClr val="tx1"/>
                </a:solidFill>
                <a:latin typeface="Alatsi" panose="020B0604020202020204" charset="0"/>
                <a:cs typeface="Alatsi" panose="020B0604020202020204" charset="0"/>
              </a:rPr>
              <a:t>lightning-fast even on basic laptops.</a:t>
            </a:r>
          </a:p>
          <a:p>
            <a:pPr lvl="0" eaLnBrk="0" fontAlgn="base" hangingPunct="0">
              <a:spcBef>
                <a:spcPct val="0"/>
              </a:spcBef>
              <a:spcAft>
                <a:spcPct val="0"/>
              </a:spcAft>
              <a:buClrTx/>
              <a:buFontTx/>
              <a:buChar char="•"/>
            </a:pPr>
            <a:endParaRPr lang="en-US" altLang="en-US" sz="2800" dirty="0">
              <a:solidFill>
                <a:schemeClr val="tx1"/>
              </a:solidFill>
              <a:latin typeface="Alatsi" panose="020B0604020202020204" charset="0"/>
              <a:cs typeface="Alatsi" panose="020B0604020202020204" charset="0"/>
            </a:endParaRPr>
          </a:p>
          <a:p>
            <a:pPr lvl="0" eaLnBrk="0" fontAlgn="base" hangingPunct="0">
              <a:spcBef>
                <a:spcPct val="0"/>
              </a:spcBef>
              <a:spcAft>
                <a:spcPct val="0"/>
              </a:spcAft>
              <a:buClrTx/>
              <a:buFontTx/>
              <a:buChar char="•"/>
            </a:pPr>
            <a:r>
              <a:rPr lang="en-US" altLang="en-US" sz="2800" b="1" dirty="0">
                <a:solidFill>
                  <a:schemeClr val="tx1"/>
                </a:solidFill>
                <a:latin typeface="Alatsi" panose="020B0604020202020204" charset="0"/>
                <a:cs typeface="Alatsi" panose="020B0604020202020204" charset="0"/>
              </a:rPr>
              <a:t>Global Accessibility:</a:t>
            </a:r>
            <a:r>
              <a:rPr lang="en-US" altLang="en-US" sz="2800" dirty="0">
                <a:solidFill>
                  <a:schemeClr val="tx1"/>
                </a:solidFill>
                <a:latin typeface="Alatsi" panose="020B0604020202020204" charset="0"/>
                <a:cs typeface="Alatsi" panose="020B0604020202020204" charset="0"/>
              </a:rPr>
              <a:t> Anyone, anywhere—from a museum in Chennai to a university in London—can upload</a:t>
            </a:r>
          </a:p>
          <a:p>
            <a:pPr lvl="0" eaLnBrk="0" fontAlgn="base" hangingPunct="0">
              <a:spcBef>
                <a:spcPct val="0"/>
              </a:spcBef>
              <a:spcAft>
                <a:spcPct val="0"/>
              </a:spcAft>
              <a:buClrTx/>
            </a:pPr>
            <a:r>
              <a:rPr lang="en-US" altLang="en-US" sz="2800" dirty="0">
                <a:solidFill>
                  <a:schemeClr val="tx1"/>
                </a:solidFill>
                <a:latin typeface="Alatsi" panose="020B0604020202020204" charset="0"/>
                <a:cs typeface="Alatsi" panose="020B0604020202020204" charset="0"/>
              </a:rPr>
              <a:t> an image and get instant real-time translations</a:t>
            </a:r>
            <a:r>
              <a:rPr lang="en-US" altLang="en-US" sz="2800" dirty="0">
                <a:solidFill>
                  <a:schemeClr val="tx1"/>
                </a:solidFill>
                <a:latin typeface="Arial" panose="020B0604020202020204" pitchFamily="34" charset="0"/>
              </a:rPr>
              <a:t>.</a:t>
            </a:r>
          </a:p>
          <a:p>
            <a:pPr lvl="0" eaLnBrk="0" fontAlgn="base" hangingPunct="0">
              <a:spcBef>
                <a:spcPct val="0"/>
              </a:spcBef>
              <a:spcAft>
                <a:spcPct val="0"/>
              </a:spcAft>
              <a:buClrTx/>
              <a:buFontTx/>
              <a:buChar char="•"/>
            </a:pPr>
            <a:endParaRPr lang="en-US" altLang="en-US" sz="1800" dirty="0">
              <a:solidFill>
                <a:schemeClr val="tx1"/>
              </a:solidFill>
              <a:latin typeface="Arial" panose="020B0604020202020204" pitchFamily="34" charset="0"/>
            </a:endParaRPr>
          </a:p>
        </p:txBody>
      </p:sp>
      <p:sp>
        <p:nvSpPr>
          <p:cNvPr id="14" name="TextBox 13">
            <a:extLst>
              <a:ext uri="{FF2B5EF4-FFF2-40B4-BE49-F238E27FC236}">
                <a16:creationId xmlns:a16="http://schemas.microsoft.com/office/drawing/2014/main" id="{5FE37F8B-241D-0A29-8D6E-648EA03BC2D5}"/>
              </a:ext>
            </a:extLst>
          </p:cNvPr>
          <p:cNvSpPr txBox="1"/>
          <p:nvPr/>
        </p:nvSpPr>
        <p:spPr>
          <a:xfrm>
            <a:off x="63551" y="4381559"/>
            <a:ext cx="17172825" cy="526297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latsi" panose="020B0604020202020204" charset="0"/>
                <a:cs typeface="Alatsi" panose="020B0604020202020204" charset="0"/>
              </a:rPr>
              <a:t>Zero Local Setup (Frictionless):</a:t>
            </a:r>
            <a:r>
              <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rPr>
              <a:t> Researchers do not need to install complex Python environments, heavy machine-learning libraries, or specialized graphics cards (GPUs). They just click a link and start translating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latsi" panose="020B0604020202020204" charset="0"/>
                <a:cs typeface="Alatsi" panose="020B0604020202020204" charset="0"/>
              </a:rPr>
              <a:t>Mobile &amp; Field Ready:</a:t>
            </a:r>
            <a:r>
              <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rPr>
              <a:t> Because it runs in a standard browser, an archaeologist can snap a photo of a leaf using an iPad or smartphone right at the excavation site and get an instant translation without returning to a lab.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latsi" panose="020B0604020202020204" charset="0"/>
                <a:cs typeface="Alatsi" panose="020B0604020202020204" charset="0"/>
              </a:rPr>
              <a:t>Massive Scalability:</a:t>
            </a:r>
            <a:r>
              <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rPr>
              <a:t> While offline models struggle to process one image at a time, our cloud-based API architecture can easily be scaled to process entire digital archives—thousands of leaves—simultaneously.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latsi" panose="020B0604020202020204" charset="0"/>
                <a:cs typeface="Alatsi" panose="020B0604020202020204" charset="0"/>
              </a:rPr>
              <a:t>Always Up-to-Date:</a:t>
            </a:r>
            <a:r>
              <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rPr>
              <a:t> Any improvements we make to the AI prompt or the OpenCV restoration code happen centrally on the server. Users instantly get the smartest version of the AI without ever needing to download "software updates."</a:t>
            </a:r>
            <a:endParaRPr lang="en-IN" sz="2800" dirty="0">
              <a:latin typeface="Alatsi" panose="020B0604020202020204" charset="0"/>
              <a:cs typeface="Alatsi" panose="020B0604020202020204" charset="0"/>
            </a:endParaRPr>
          </a:p>
        </p:txBody>
      </p:sp>
    </p:spTree>
    <p:extLst>
      <p:ext uri="{BB962C8B-B14F-4D97-AF65-F5344CB8AC3E}">
        <p14:creationId xmlns:p14="http://schemas.microsoft.com/office/powerpoint/2010/main" val="110687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7F576E-B0A3-6050-6B6F-A696DA2D5DB8}"/>
              </a:ext>
            </a:extLst>
          </p:cNvPr>
          <p:cNvSpPr txBox="1"/>
          <p:nvPr/>
        </p:nvSpPr>
        <p:spPr>
          <a:xfrm>
            <a:off x="449705" y="505679"/>
            <a:ext cx="9144000" cy="707886"/>
          </a:xfrm>
          <a:prstGeom prst="rect">
            <a:avLst/>
          </a:prstGeom>
          <a:noFill/>
        </p:spPr>
        <p:txBody>
          <a:bodyPr wrap="square">
            <a:spAutoFit/>
          </a:bodyPr>
          <a:lstStyle/>
          <a:p>
            <a:r>
              <a:rPr lang="en-IN" sz="4000" dirty="0">
                <a:solidFill>
                  <a:srgbClr val="FFFF00"/>
                </a:solidFill>
                <a:latin typeface="Alatsi" panose="020B0604020202020204" charset="0"/>
                <a:cs typeface="Alatsi" panose="020B0604020202020204" charset="0"/>
              </a:rPr>
              <a:t>System</a:t>
            </a:r>
            <a:r>
              <a:rPr lang="en-IN" sz="4000" dirty="0">
                <a:solidFill>
                  <a:srgbClr val="FFFF00"/>
                </a:solidFill>
              </a:rPr>
              <a:t> </a:t>
            </a:r>
            <a:r>
              <a:rPr lang="en-IN" sz="4000" dirty="0">
                <a:solidFill>
                  <a:srgbClr val="FFFF00"/>
                </a:solidFill>
                <a:latin typeface="Alatsi" panose="020B0604020202020204" charset="0"/>
                <a:cs typeface="Alatsi" panose="020B0604020202020204" charset="0"/>
              </a:rPr>
              <a:t>Architecture</a:t>
            </a:r>
          </a:p>
        </p:txBody>
      </p:sp>
      <p:grpSp>
        <p:nvGrpSpPr>
          <p:cNvPr id="4" name="Google Shape;179;p5">
            <a:extLst>
              <a:ext uri="{FF2B5EF4-FFF2-40B4-BE49-F238E27FC236}">
                <a16:creationId xmlns:a16="http://schemas.microsoft.com/office/drawing/2014/main" id="{201DCD51-CDAF-F87F-CE31-91FFF19FA50A}"/>
              </a:ext>
            </a:extLst>
          </p:cNvPr>
          <p:cNvGrpSpPr/>
          <p:nvPr/>
        </p:nvGrpSpPr>
        <p:grpSpPr>
          <a:xfrm>
            <a:off x="0" y="1230325"/>
            <a:ext cx="13832330" cy="262748"/>
            <a:chOff x="30192" y="-59703"/>
            <a:chExt cx="18443106" cy="350331"/>
          </a:xfrm>
        </p:grpSpPr>
        <p:grpSp>
          <p:nvGrpSpPr>
            <p:cNvPr id="5" name="Google Shape;180;p5">
              <a:extLst>
                <a:ext uri="{FF2B5EF4-FFF2-40B4-BE49-F238E27FC236}">
                  <a16:creationId xmlns:a16="http://schemas.microsoft.com/office/drawing/2014/main" id="{81127416-C9F9-1D4D-FEDC-8463EA48D07E}"/>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F848ADE7-FF99-4709-C004-7C14984B4EF1}"/>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BF47F919-B398-66E4-3494-3516298C4538}"/>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968DE81A-8238-7CF3-9486-8160CF281E11}"/>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577B6282-AFC9-F452-1C52-0B22870B4911}"/>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D3412365-A1FD-6FB5-5715-C54D6AECB78A}"/>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C847C475-2D2F-60BF-1F3C-17132B6540BD}"/>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sp>
        <p:nvSpPr>
          <p:cNvPr id="12" name="Rectangle 1">
            <a:extLst>
              <a:ext uri="{FF2B5EF4-FFF2-40B4-BE49-F238E27FC236}">
                <a16:creationId xmlns:a16="http://schemas.microsoft.com/office/drawing/2014/main" id="{41A28B3D-C23F-3B17-E9CA-AA876700A60C}"/>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4" name="TextBox 13">
            <a:extLst>
              <a:ext uri="{FF2B5EF4-FFF2-40B4-BE49-F238E27FC236}">
                <a16:creationId xmlns:a16="http://schemas.microsoft.com/office/drawing/2014/main" id="{08E01E13-E84E-7A1A-1D5C-4D79CD79CCA3}"/>
              </a:ext>
            </a:extLst>
          </p:cNvPr>
          <p:cNvSpPr txBox="1"/>
          <p:nvPr/>
        </p:nvSpPr>
        <p:spPr>
          <a:xfrm>
            <a:off x="248786" y="1891011"/>
            <a:ext cx="17529548" cy="507831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latsi" panose="020B0604020202020204" charset="0"/>
                <a:cs typeface="Alatsi" panose="020B0604020202020204" charset="0"/>
              </a:rPr>
              <a:t>Step 1: Ingestion:</a:t>
            </a:r>
            <a:r>
              <a:rPr kumimoji="0" lang="en-US" altLang="en-US" sz="3600" b="0" i="0" u="none" strike="noStrike" cap="none" normalizeH="0" baseline="0" dirty="0">
                <a:ln>
                  <a:noFill/>
                </a:ln>
                <a:solidFill>
                  <a:schemeClr val="tx1"/>
                </a:solidFill>
                <a:effectLst/>
                <a:latin typeface="Alatsi" panose="020B0604020202020204" charset="0"/>
                <a:cs typeface="Alatsi" panose="020B0604020202020204" charset="0"/>
              </a:rPr>
              <a:t> User uploads a photo of the ancient manuscript.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latsi" panose="020B0604020202020204" charset="0"/>
                <a:cs typeface="Alatsi" panose="020B0604020202020204" charset="0"/>
              </a:rPr>
              <a:t>Step 2: Vision Processing:</a:t>
            </a:r>
            <a:r>
              <a:rPr kumimoji="0" lang="en-US" altLang="en-US" sz="3600" b="0" i="0" u="none" strike="noStrike" cap="none" normalizeH="0" baseline="0" dirty="0">
                <a:ln>
                  <a:noFill/>
                </a:ln>
                <a:solidFill>
                  <a:schemeClr val="tx1"/>
                </a:solidFill>
                <a:effectLst/>
                <a:latin typeface="Alatsi" panose="020B0604020202020204" charset="0"/>
                <a:cs typeface="Alatsi" panose="020B0604020202020204" charset="0"/>
              </a:rPr>
              <a:t> OpenCV applies CLAHE (Contrast Limited Adaptive Histogram Equalization) and Adaptive Thresholding to extract the faded text from the dark background.</a:t>
            </a:r>
          </a:p>
          <a:p>
            <a:pPr lvl="0" eaLnBrk="0" fontAlgn="base" hangingPunct="0">
              <a:spcBef>
                <a:spcPct val="0"/>
              </a:spcBef>
              <a:spcAft>
                <a:spcPct val="0"/>
              </a:spcAft>
              <a:buClrTx/>
              <a:buFontTx/>
              <a:buChar char="•"/>
            </a:pPr>
            <a:r>
              <a:rPr kumimoji="0" lang="en-US" altLang="en-US" sz="3600" b="1" i="0" u="none" strike="noStrike" cap="none" normalizeH="0" baseline="0" dirty="0">
                <a:ln>
                  <a:noFill/>
                </a:ln>
                <a:solidFill>
                  <a:schemeClr val="tx1"/>
                </a:solidFill>
                <a:effectLst/>
                <a:latin typeface="Alatsi" panose="020B0604020202020204" charset="0"/>
                <a:cs typeface="Alatsi" panose="020B0604020202020204" charset="0"/>
              </a:rPr>
              <a:t>Step 3: Edge AI Inference:</a:t>
            </a:r>
            <a:r>
              <a:rPr kumimoji="0" lang="en-US" altLang="en-US" sz="3600" b="0" i="0" u="none" strike="noStrike" cap="none" normalizeH="0" baseline="0" dirty="0">
                <a:ln>
                  <a:noFill/>
                </a:ln>
                <a:solidFill>
                  <a:schemeClr val="tx1"/>
                </a:solidFill>
                <a:effectLst/>
                <a:latin typeface="Alatsi" panose="020B0604020202020204" charset="0"/>
                <a:cs typeface="Alatsi" panose="020B0604020202020204" charset="0"/>
              </a:rPr>
              <a:t> </a:t>
            </a:r>
            <a:r>
              <a:rPr lang="en-US" sz="3600" dirty="0">
                <a:latin typeface="Alatsi" panose="020B0604020202020204" charset="0"/>
                <a:cs typeface="Alatsi" panose="020B0604020202020204" charset="0"/>
              </a:rPr>
              <a:t>The restored image is securely sent to the </a:t>
            </a:r>
            <a:r>
              <a:rPr lang="en-US" sz="3600" b="1" dirty="0">
                <a:latin typeface="Alatsi" panose="020B0604020202020204" charset="0"/>
                <a:cs typeface="Alatsi" panose="020B0604020202020204" charset="0"/>
              </a:rPr>
              <a:t>Google Gemini 2.5 Flash Cloud API</a:t>
            </a:r>
            <a:r>
              <a:rPr lang="en-US" sz="3600" dirty="0">
                <a:latin typeface="Alatsi" panose="020B0604020202020204" charset="0"/>
                <a:cs typeface="Alatsi" panose="020B0604020202020204" charset="0"/>
              </a:rPr>
              <a:t>, which acts as a virtual scholar to visually analyze, extract, and translate the ancient script</a:t>
            </a:r>
            <a:r>
              <a:rPr lang="en-US" sz="3600" dirty="0"/>
              <a:t>.</a:t>
            </a:r>
          </a:p>
          <a:p>
            <a:pPr lvl="0" eaLnBrk="0" fontAlgn="base" hangingPunct="0">
              <a:spcBef>
                <a:spcPct val="0"/>
              </a:spcBef>
              <a:spcAft>
                <a:spcPct val="0"/>
              </a:spcAft>
              <a:buClrTx/>
              <a:buFontTx/>
              <a:buChar char="•"/>
            </a:pPr>
            <a:r>
              <a:rPr kumimoji="0" lang="en-US" altLang="en-US" sz="3600" b="1" i="0" u="none" strike="noStrike" cap="none" normalizeH="0" baseline="0" dirty="0">
                <a:ln>
                  <a:noFill/>
                </a:ln>
                <a:solidFill>
                  <a:schemeClr val="tx1"/>
                </a:solidFill>
                <a:effectLst/>
                <a:latin typeface="Alatsi" panose="020B0604020202020204" charset="0"/>
                <a:cs typeface="Alatsi" panose="020B0604020202020204" charset="0"/>
              </a:rPr>
              <a:t>Step 4: Output:</a:t>
            </a:r>
            <a:r>
              <a:rPr kumimoji="0" lang="en-US" altLang="en-US" sz="3600" b="0" i="0" u="none" strike="noStrike" cap="none" normalizeH="0" baseline="0" dirty="0">
                <a:ln>
                  <a:noFill/>
                </a:ln>
                <a:solidFill>
                  <a:schemeClr val="tx1"/>
                </a:solidFill>
                <a:effectLst/>
                <a:latin typeface="Alatsi" panose="020B0604020202020204" charset="0"/>
                <a:cs typeface="Alatsi" panose="020B0604020202020204" charset="0"/>
              </a:rPr>
              <a:t> The </a:t>
            </a:r>
            <a:r>
              <a:rPr kumimoji="0" lang="en-US" altLang="en-US" sz="3600" b="0" i="0" u="none" strike="noStrike" cap="none" normalizeH="0" baseline="0" dirty="0" err="1">
                <a:ln>
                  <a:noFill/>
                </a:ln>
                <a:solidFill>
                  <a:schemeClr val="tx1"/>
                </a:solidFill>
                <a:effectLst/>
                <a:latin typeface="Alatsi" panose="020B0604020202020204" charset="0"/>
                <a:cs typeface="Alatsi" panose="020B0604020202020204" charset="0"/>
              </a:rPr>
              <a:t>Streamlit</a:t>
            </a:r>
            <a:r>
              <a:rPr kumimoji="0" lang="en-US" altLang="en-US" sz="3600" b="0" i="0" u="none" strike="noStrike" cap="none" normalizeH="0" baseline="0" dirty="0">
                <a:ln>
                  <a:noFill/>
                </a:ln>
                <a:solidFill>
                  <a:schemeClr val="tx1"/>
                </a:solidFill>
                <a:effectLst/>
                <a:latin typeface="Alatsi" panose="020B0604020202020204" charset="0"/>
                <a:cs typeface="Alatsi" panose="020B0604020202020204" charset="0"/>
              </a:rPr>
              <a:t> UI displays the restored image side-by-side with the AI Scholar's linguistic breakdown</a:t>
            </a:r>
            <a:endParaRPr lang="en-IN" sz="3600" dirty="0">
              <a:latin typeface="Alatsi" panose="020B0604020202020204" charset="0"/>
              <a:cs typeface="Alatsi" panose="020B0604020202020204" charset="0"/>
            </a:endParaRPr>
          </a:p>
        </p:txBody>
      </p:sp>
      <p:grpSp>
        <p:nvGrpSpPr>
          <p:cNvPr id="15" name="Google Shape;173;p5">
            <a:extLst>
              <a:ext uri="{FF2B5EF4-FFF2-40B4-BE49-F238E27FC236}">
                <a16:creationId xmlns:a16="http://schemas.microsoft.com/office/drawing/2014/main" id="{3FC49870-B3BB-92A7-0C51-7095B8D0B66F}"/>
              </a:ext>
            </a:extLst>
          </p:cNvPr>
          <p:cNvGrpSpPr/>
          <p:nvPr/>
        </p:nvGrpSpPr>
        <p:grpSpPr>
          <a:xfrm>
            <a:off x="0" y="9478847"/>
            <a:ext cx="10734327" cy="784832"/>
            <a:chOff x="0" y="-9525"/>
            <a:chExt cx="2000501" cy="146157"/>
          </a:xfrm>
        </p:grpSpPr>
        <p:sp>
          <p:nvSpPr>
            <p:cNvPr id="16" name="Google Shape;174;p5">
              <a:extLst>
                <a:ext uri="{FF2B5EF4-FFF2-40B4-BE49-F238E27FC236}">
                  <a16:creationId xmlns:a16="http://schemas.microsoft.com/office/drawing/2014/main" id="{B4FA4517-1E2F-6AFC-6B25-9C2601BED354}"/>
                </a:ext>
              </a:extLst>
            </p:cNvPr>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17" name="Google Shape;175;p5">
              <a:extLst>
                <a:ext uri="{FF2B5EF4-FFF2-40B4-BE49-F238E27FC236}">
                  <a16:creationId xmlns:a16="http://schemas.microsoft.com/office/drawing/2014/main" id="{8C5E9E06-EE1E-7E8A-D54C-72F927464881}"/>
                </a:ext>
              </a:extLst>
            </p:cNvPr>
            <p:cNvSpPr txBox="1"/>
            <p:nvPr/>
          </p:nvSpPr>
          <p:spPr>
            <a:xfrm>
              <a:off x="0" y="-9525"/>
              <a:ext cx="2000501" cy="146157"/>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 name="Google Shape;176;p5">
            <a:extLst>
              <a:ext uri="{FF2B5EF4-FFF2-40B4-BE49-F238E27FC236}">
                <a16:creationId xmlns:a16="http://schemas.microsoft.com/office/drawing/2014/main" id="{F33F2623-22B2-92E9-3FF4-E5911E1E2E25}"/>
              </a:ext>
            </a:extLst>
          </p:cNvPr>
          <p:cNvGrpSpPr/>
          <p:nvPr/>
        </p:nvGrpSpPr>
        <p:grpSpPr>
          <a:xfrm>
            <a:off x="7530163" y="9358601"/>
            <a:ext cx="11425677" cy="905078"/>
            <a:chOff x="3495" y="-9525"/>
            <a:chExt cx="1929718" cy="152861"/>
          </a:xfrm>
        </p:grpSpPr>
        <p:sp>
          <p:nvSpPr>
            <p:cNvPr id="19" name="Google Shape;177;p5">
              <a:extLst>
                <a:ext uri="{FF2B5EF4-FFF2-40B4-BE49-F238E27FC236}">
                  <a16:creationId xmlns:a16="http://schemas.microsoft.com/office/drawing/2014/main" id="{3BBC9CAE-C350-F779-F6A8-4BA63A370852}"/>
                </a:ext>
              </a:extLst>
            </p:cNvPr>
            <p:cNvSpPr/>
            <p:nvPr/>
          </p:nvSpPr>
          <p:spPr>
            <a:xfrm>
              <a:off x="3495" y="0"/>
              <a:ext cx="1929718" cy="143336"/>
            </a:xfrm>
            <a:custGeom>
              <a:avLst/>
              <a:gdLst/>
              <a:ahLst/>
              <a:cxnLst/>
              <a:rect l="l" t="t" r="r" b="b"/>
              <a:pathLst>
                <a:path w="1929718" h="143336" extrusionOk="0">
                  <a:moveTo>
                    <a:pt x="231587" y="0"/>
                  </a:moveTo>
                  <a:lnTo>
                    <a:pt x="1928319" y="0"/>
                  </a:lnTo>
                  <a:cubicBezTo>
                    <a:pt x="1928944" y="0"/>
                    <a:pt x="1929493" y="414"/>
                    <a:pt x="1929665" y="1015"/>
                  </a:cubicBezTo>
                  <a:cubicBezTo>
                    <a:pt x="1929836" y="1615"/>
                    <a:pt x="1929589" y="2257"/>
                    <a:pt x="1929059" y="2587"/>
                  </a:cubicBezTo>
                  <a:lnTo>
                    <a:pt x="1707182" y="140749"/>
                  </a:lnTo>
                  <a:cubicBezTo>
                    <a:pt x="1704466" y="142440"/>
                    <a:pt x="1701331" y="143336"/>
                    <a:pt x="1698132" y="143336"/>
                  </a:cubicBezTo>
                  <a:lnTo>
                    <a:pt x="1400" y="143336"/>
                  </a:lnTo>
                  <a:cubicBezTo>
                    <a:pt x="775" y="143336"/>
                    <a:pt x="226" y="142922"/>
                    <a:pt x="54" y="142322"/>
                  </a:cubicBezTo>
                  <a:cubicBezTo>
                    <a:pt x="-117" y="141721"/>
                    <a:pt x="130" y="141079"/>
                    <a:pt x="660" y="140749"/>
                  </a:cubicBezTo>
                  <a:lnTo>
                    <a:pt x="222537" y="2587"/>
                  </a:lnTo>
                  <a:cubicBezTo>
                    <a:pt x="225253" y="896"/>
                    <a:pt x="228388" y="0"/>
                    <a:pt x="231587"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p5">
              <a:extLst>
                <a:ext uri="{FF2B5EF4-FFF2-40B4-BE49-F238E27FC236}">
                  <a16:creationId xmlns:a16="http://schemas.microsoft.com/office/drawing/2014/main" id="{157BECDE-70EC-C22D-5C3A-1EEA5A07F98F}"/>
                </a:ext>
              </a:extLst>
            </p:cNvPr>
            <p:cNvSpPr txBox="1"/>
            <p:nvPr/>
          </p:nvSpPr>
          <p:spPr>
            <a:xfrm>
              <a:off x="254000" y="-9525"/>
              <a:ext cx="1428709" cy="15286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29192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79FA0D-ABCE-1B65-5C70-952FF3D9BDC6}"/>
              </a:ext>
            </a:extLst>
          </p:cNvPr>
          <p:cNvSpPr txBox="1"/>
          <p:nvPr/>
        </p:nvSpPr>
        <p:spPr>
          <a:xfrm>
            <a:off x="344774" y="430728"/>
            <a:ext cx="9144000" cy="707886"/>
          </a:xfrm>
          <a:prstGeom prst="rect">
            <a:avLst/>
          </a:prstGeom>
          <a:noFill/>
        </p:spPr>
        <p:txBody>
          <a:bodyPr wrap="square">
            <a:spAutoFit/>
          </a:bodyPr>
          <a:lstStyle/>
          <a:p>
            <a:r>
              <a:rPr lang="en-IN" sz="4000" dirty="0">
                <a:solidFill>
                  <a:srgbClr val="FFFF00"/>
                </a:solidFill>
                <a:latin typeface="Alatsi" panose="020B0604020202020204" charset="0"/>
                <a:cs typeface="Alatsi" panose="020B0604020202020204" charset="0"/>
              </a:rPr>
              <a:t>The Tech Stack</a:t>
            </a:r>
          </a:p>
        </p:txBody>
      </p:sp>
      <p:grpSp>
        <p:nvGrpSpPr>
          <p:cNvPr id="4" name="Google Shape;179;p5">
            <a:extLst>
              <a:ext uri="{FF2B5EF4-FFF2-40B4-BE49-F238E27FC236}">
                <a16:creationId xmlns:a16="http://schemas.microsoft.com/office/drawing/2014/main" id="{FD17D479-B53A-F5B4-65FB-DA456B8CC8B2}"/>
              </a:ext>
            </a:extLst>
          </p:cNvPr>
          <p:cNvGrpSpPr/>
          <p:nvPr/>
        </p:nvGrpSpPr>
        <p:grpSpPr>
          <a:xfrm>
            <a:off x="-64166" y="1212342"/>
            <a:ext cx="13832330" cy="262748"/>
            <a:chOff x="30192" y="-59703"/>
            <a:chExt cx="18443106" cy="350331"/>
          </a:xfrm>
        </p:grpSpPr>
        <p:grpSp>
          <p:nvGrpSpPr>
            <p:cNvPr id="5" name="Google Shape;180;p5">
              <a:extLst>
                <a:ext uri="{FF2B5EF4-FFF2-40B4-BE49-F238E27FC236}">
                  <a16:creationId xmlns:a16="http://schemas.microsoft.com/office/drawing/2014/main" id="{22960E97-BDE0-E77F-1391-1ED4C122C5F3}"/>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2343EB19-6515-14E2-4D07-07C0501AFC96}"/>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351F49E8-7639-ECD0-FCB2-D69FD0AE36E0}"/>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33F2EC1D-618B-A81F-8712-0A67449CFAFA}"/>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9F4FD99D-1B56-534C-F6A9-D0FBA2A4C375}"/>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D655DFF5-1D8C-32A5-C395-9819F77E058D}"/>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A2EE1D29-FE8D-9B98-33F5-7B32A394F7A5}"/>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sp>
        <p:nvSpPr>
          <p:cNvPr id="13" name="TextBox 12">
            <a:extLst>
              <a:ext uri="{FF2B5EF4-FFF2-40B4-BE49-F238E27FC236}">
                <a16:creationId xmlns:a16="http://schemas.microsoft.com/office/drawing/2014/main" id="{C3F849D5-2763-883B-6990-6EA1B1DF16FA}"/>
              </a:ext>
            </a:extLst>
          </p:cNvPr>
          <p:cNvSpPr txBox="1"/>
          <p:nvPr/>
        </p:nvSpPr>
        <p:spPr>
          <a:xfrm>
            <a:off x="0" y="2079548"/>
            <a:ext cx="18127848" cy="6001643"/>
          </a:xfrm>
          <a:prstGeom prst="rect">
            <a:avLst/>
          </a:prstGeom>
          <a:noFill/>
        </p:spPr>
        <p:txBody>
          <a:bodyPr wrap="square">
            <a:spAutoFit/>
          </a:bodyPr>
          <a:lstStyle/>
          <a:p>
            <a:r>
              <a:rPr lang="en-US" sz="3200" b="1" dirty="0" err="1">
                <a:latin typeface="Alatsi" panose="020B0604020202020204" charset="0"/>
                <a:cs typeface="Alatsi" panose="020B0604020202020204" charset="0"/>
              </a:rPr>
              <a:t>HeritageAI</a:t>
            </a:r>
            <a:r>
              <a:rPr lang="en-US" sz="3200" b="1" dirty="0">
                <a:latin typeface="Alatsi" panose="020B0604020202020204" charset="0"/>
                <a:cs typeface="Alatsi" panose="020B0604020202020204" charset="0"/>
              </a:rPr>
              <a:t>:</a:t>
            </a:r>
            <a:r>
              <a:rPr lang="en-US" sz="3200" dirty="0">
                <a:latin typeface="Alatsi" panose="020B0604020202020204" charset="0"/>
                <a:cs typeface="Alatsi" panose="020B0604020202020204" charset="0"/>
              </a:rPr>
              <a:t> A dual-engine, cloud-powered AI platform.</a:t>
            </a:r>
          </a:p>
          <a:p>
            <a:endParaRPr lang="en-US" sz="3200" dirty="0">
              <a:latin typeface="Alatsi" panose="020B0604020202020204" charset="0"/>
              <a:cs typeface="Alatsi" panose="020B0604020202020204" charset="0"/>
            </a:endParaRPr>
          </a:p>
          <a:p>
            <a:r>
              <a:rPr lang="en-US" sz="3200" b="1" dirty="0">
                <a:latin typeface="Alatsi" panose="020B0604020202020204" charset="0"/>
                <a:cs typeface="Alatsi" panose="020B0604020202020204" charset="0"/>
              </a:rPr>
              <a:t>Engine 1 (The Eyes):</a:t>
            </a:r>
            <a:r>
              <a:rPr lang="en-US" sz="3200" dirty="0">
                <a:latin typeface="Alatsi" panose="020B0604020202020204" charset="0"/>
                <a:cs typeface="Alatsi" panose="020B0604020202020204" charset="0"/>
              </a:rPr>
              <a:t> We use </a:t>
            </a:r>
            <a:r>
              <a:rPr lang="en-US" sz="3200" b="1" dirty="0">
                <a:latin typeface="Alatsi" panose="020B0604020202020204" charset="0"/>
                <a:cs typeface="Alatsi" panose="020B0604020202020204" charset="0"/>
              </a:rPr>
              <a:t>OpenCV</a:t>
            </a:r>
            <a:r>
              <a:rPr lang="en-US" sz="3200" dirty="0">
                <a:latin typeface="Alatsi" panose="020B0604020202020204" charset="0"/>
                <a:cs typeface="Alatsi" panose="020B0604020202020204" charset="0"/>
              </a:rPr>
              <a:t> to physically restore, clean, and enhance the degraded palm leaf images.</a:t>
            </a:r>
          </a:p>
          <a:p>
            <a:endParaRPr lang="en-US" sz="3200" dirty="0">
              <a:latin typeface="Alatsi" panose="020B0604020202020204" charset="0"/>
              <a:cs typeface="Alatsi" panose="020B0604020202020204" charset="0"/>
            </a:endParaRPr>
          </a:p>
          <a:p>
            <a:r>
              <a:rPr lang="en-US" sz="3200" b="1" dirty="0">
                <a:latin typeface="Alatsi" panose="020B0604020202020204" charset="0"/>
                <a:cs typeface="Alatsi" panose="020B0604020202020204" charset="0"/>
              </a:rPr>
              <a:t>Engine 2 (The Scholar):</a:t>
            </a:r>
            <a:r>
              <a:rPr lang="en-US" sz="3200" dirty="0">
                <a:latin typeface="Alatsi" panose="020B0604020202020204" charset="0"/>
                <a:cs typeface="Alatsi" panose="020B0604020202020204" charset="0"/>
              </a:rPr>
              <a:t> We integrated Google's multimodal </a:t>
            </a:r>
            <a:r>
              <a:rPr lang="en-US" sz="3200" b="1" dirty="0">
                <a:latin typeface="Alatsi" panose="020B0604020202020204" charset="0"/>
                <a:cs typeface="Alatsi" panose="020B0604020202020204" charset="0"/>
              </a:rPr>
              <a:t>Gemini 2.5 Flash API</a:t>
            </a:r>
            <a:r>
              <a:rPr lang="en-US" sz="3200" dirty="0">
                <a:latin typeface="Alatsi" panose="020B0604020202020204" charset="0"/>
                <a:cs typeface="Alatsi" panose="020B0604020202020204" charset="0"/>
              </a:rPr>
              <a:t> to act as a virtual epigraphy scholar, visually analyzing and explaining the text in modern Tamil, English, and other global languages.</a:t>
            </a:r>
          </a:p>
          <a:p>
            <a:endParaRPr lang="en-US" sz="3200" dirty="0">
              <a:latin typeface="Alatsi" panose="020B0604020202020204" charset="0"/>
              <a:cs typeface="Alatsi" panose="020B0604020202020204" charset="0"/>
            </a:endParaRPr>
          </a:p>
          <a:p>
            <a:r>
              <a:rPr lang="en-US" sz="3200" dirty="0">
                <a:latin typeface="Alatsi" panose="020B0604020202020204" charset="0"/>
                <a:cs typeface="Alatsi" panose="020B0604020202020204" charset="0"/>
              </a:rPr>
              <a:t>A simple horizontal 3-step flowchart graphic: Image Restoration ➡️ AI Extraction &amp; Translation ➡️ Human Verification.</a:t>
            </a:r>
          </a:p>
          <a:p>
            <a:pPr marL="742950" lvl="1" indent="-285750">
              <a:buFont typeface="Arial" panose="020B0604020202020204" pitchFamily="34" charset="0"/>
              <a:buChar char="•"/>
            </a:pPr>
            <a:endParaRPr lang="en-IN" sz="3200" dirty="0">
              <a:latin typeface="Alatsi" panose="020B0604020202020204" charset="0"/>
              <a:cs typeface="Alatsi" panose="020B0604020202020204" charset="0"/>
            </a:endParaRPr>
          </a:p>
        </p:txBody>
      </p:sp>
      <p:grpSp>
        <p:nvGrpSpPr>
          <p:cNvPr id="14" name="Google Shape;173;p5">
            <a:extLst>
              <a:ext uri="{FF2B5EF4-FFF2-40B4-BE49-F238E27FC236}">
                <a16:creationId xmlns:a16="http://schemas.microsoft.com/office/drawing/2014/main" id="{0D9AAF1D-163A-2AC3-E9DD-533893D8295C}"/>
              </a:ext>
            </a:extLst>
          </p:cNvPr>
          <p:cNvGrpSpPr/>
          <p:nvPr/>
        </p:nvGrpSpPr>
        <p:grpSpPr>
          <a:xfrm>
            <a:off x="0" y="9478847"/>
            <a:ext cx="10734327" cy="784832"/>
            <a:chOff x="0" y="-9525"/>
            <a:chExt cx="2000501" cy="146157"/>
          </a:xfrm>
        </p:grpSpPr>
        <p:sp>
          <p:nvSpPr>
            <p:cNvPr id="15" name="Google Shape;174;p5">
              <a:extLst>
                <a:ext uri="{FF2B5EF4-FFF2-40B4-BE49-F238E27FC236}">
                  <a16:creationId xmlns:a16="http://schemas.microsoft.com/office/drawing/2014/main" id="{727768E8-416C-096B-EC1B-781B92EECBF5}"/>
                </a:ext>
              </a:extLst>
            </p:cNvPr>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16" name="Google Shape;175;p5">
              <a:extLst>
                <a:ext uri="{FF2B5EF4-FFF2-40B4-BE49-F238E27FC236}">
                  <a16:creationId xmlns:a16="http://schemas.microsoft.com/office/drawing/2014/main" id="{7174E5FE-6259-D520-A60A-6DCA95869A1E}"/>
                </a:ext>
              </a:extLst>
            </p:cNvPr>
            <p:cNvSpPr txBox="1"/>
            <p:nvPr/>
          </p:nvSpPr>
          <p:spPr>
            <a:xfrm>
              <a:off x="0" y="-9525"/>
              <a:ext cx="2000501" cy="146157"/>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 name="Google Shape;176;p5">
            <a:extLst>
              <a:ext uri="{FF2B5EF4-FFF2-40B4-BE49-F238E27FC236}">
                <a16:creationId xmlns:a16="http://schemas.microsoft.com/office/drawing/2014/main" id="{8D22ACDB-515E-5E86-7058-1A7C341A2113}"/>
              </a:ext>
            </a:extLst>
          </p:cNvPr>
          <p:cNvGrpSpPr/>
          <p:nvPr/>
        </p:nvGrpSpPr>
        <p:grpSpPr>
          <a:xfrm>
            <a:off x="7829966" y="9358601"/>
            <a:ext cx="11425677" cy="905078"/>
            <a:chOff x="3495" y="-9525"/>
            <a:chExt cx="1929718" cy="152861"/>
          </a:xfrm>
        </p:grpSpPr>
        <p:sp>
          <p:nvSpPr>
            <p:cNvPr id="18" name="Google Shape;177;p5">
              <a:extLst>
                <a:ext uri="{FF2B5EF4-FFF2-40B4-BE49-F238E27FC236}">
                  <a16:creationId xmlns:a16="http://schemas.microsoft.com/office/drawing/2014/main" id="{711EC601-FE90-DCFC-61DA-9A6624C2028E}"/>
                </a:ext>
              </a:extLst>
            </p:cNvPr>
            <p:cNvSpPr/>
            <p:nvPr/>
          </p:nvSpPr>
          <p:spPr>
            <a:xfrm>
              <a:off x="3495" y="0"/>
              <a:ext cx="1929718" cy="143336"/>
            </a:xfrm>
            <a:custGeom>
              <a:avLst/>
              <a:gdLst/>
              <a:ahLst/>
              <a:cxnLst/>
              <a:rect l="l" t="t" r="r" b="b"/>
              <a:pathLst>
                <a:path w="1929718" h="143336" extrusionOk="0">
                  <a:moveTo>
                    <a:pt x="231587" y="0"/>
                  </a:moveTo>
                  <a:lnTo>
                    <a:pt x="1928319" y="0"/>
                  </a:lnTo>
                  <a:cubicBezTo>
                    <a:pt x="1928944" y="0"/>
                    <a:pt x="1929493" y="414"/>
                    <a:pt x="1929665" y="1015"/>
                  </a:cubicBezTo>
                  <a:cubicBezTo>
                    <a:pt x="1929836" y="1615"/>
                    <a:pt x="1929589" y="2257"/>
                    <a:pt x="1929059" y="2587"/>
                  </a:cubicBezTo>
                  <a:lnTo>
                    <a:pt x="1707182" y="140749"/>
                  </a:lnTo>
                  <a:cubicBezTo>
                    <a:pt x="1704466" y="142440"/>
                    <a:pt x="1701331" y="143336"/>
                    <a:pt x="1698132" y="143336"/>
                  </a:cubicBezTo>
                  <a:lnTo>
                    <a:pt x="1400" y="143336"/>
                  </a:lnTo>
                  <a:cubicBezTo>
                    <a:pt x="775" y="143336"/>
                    <a:pt x="226" y="142922"/>
                    <a:pt x="54" y="142322"/>
                  </a:cubicBezTo>
                  <a:cubicBezTo>
                    <a:pt x="-117" y="141721"/>
                    <a:pt x="130" y="141079"/>
                    <a:pt x="660" y="140749"/>
                  </a:cubicBezTo>
                  <a:lnTo>
                    <a:pt x="222537" y="2587"/>
                  </a:lnTo>
                  <a:cubicBezTo>
                    <a:pt x="225253" y="896"/>
                    <a:pt x="228388" y="0"/>
                    <a:pt x="231587"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8;p5">
              <a:extLst>
                <a:ext uri="{FF2B5EF4-FFF2-40B4-BE49-F238E27FC236}">
                  <a16:creationId xmlns:a16="http://schemas.microsoft.com/office/drawing/2014/main" id="{D20F0136-A781-8255-60A1-63FBBF88D5C4}"/>
                </a:ext>
              </a:extLst>
            </p:cNvPr>
            <p:cNvSpPr txBox="1"/>
            <p:nvPr/>
          </p:nvSpPr>
          <p:spPr>
            <a:xfrm>
              <a:off x="254000" y="-9525"/>
              <a:ext cx="1428709" cy="15286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863945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361D4B-A07D-D63C-A4C3-79AB720B26ED}"/>
              </a:ext>
            </a:extLst>
          </p:cNvPr>
          <p:cNvSpPr txBox="1"/>
          <p:nvPr/>
        </p:nvSpPr>
        <p:spPr>
          <a:xfrm>
            <a:off x="256821" y="173885"/>
            <a:ext cx="9144000" cy="707886"/>
          </a:xfrm>
          <a:prstGeom prst="rect">
            <a:avLst/>
          </a:prstGeom>
          <a:noFill/>
        </p:spPr>
        <p:txBody>
          <a:bodyPr wrap="square">
            <a:spAutoFit/>
          </a:bodyPr>
          <a:lstStyle/>
          <a:p>
            <a:pPr>
              <a:buNone/>
            </a:pPr>
            <a:r>
              <a:rPr lang="en-IN" sz="4000" b="1" dirty="0">
                <a:solidFill>
                  <a:srgbClr val="FFFF00"/>
                </a:solidFill>
                <a:latin typeface="Alatsi" panose="020B0604020202020204" charset="0"/>
                <a:cs typeface="Alatsi" panose="020B0604020202020204" charset="0"/>
              </a:rPr>
              <a:t>Live Demo / Results</a:t>
            </a:r>
          </a:p>
        </p:txBody>
      </p:sp>
      <p:grpSp>
        <p:nvGrpSpPr>
          <p:cNvPr id="4" name="Google Shape;179;p5">
            <a:extLst>
              <a:ext uri="{FF2B5EF4-FFF2-40B4-BE49-F238E27FC236}">
                <a16:creationId xmlns:a16="http://schemas.microsoft.com/office/drawing/2014/main" id="{5DF7AE29-F5F8-9A15-1925-7EF0DB51C519}"/>
              </a:ext>
            </a:extLst>
          </p:cNvPr>
          <p:cNvGrpSpPr/>
          <p:nvPr/>
        </p:nvGrpSpPr>
        <p:grpSpPr>
          <a:xfrm>
            <a:off x="0" y="970061"/>
            <a:ext cx="13832330" cy="262748"/>
            <a:chOff x="30192" y="-59703"/>
            <a:chExt cx="18443106" cy="350331"/>
          </a:xfrm>
        </p:grpSpPr>
        <p:grpSp>
          <p:nvGrpSpPr>
            <p:cNvPr id="5" name="Google Shape;180;p5">
              <a:extLst>
                <a:ext uri="{FF2B5EF4-FFF2-40B4-BE49-F238E27FC236}">
                  <a16:creationId xmlns:a16="http://schemas.microsoft.com/office/drawing/2014/main" id="{4472324C-F978-859C-4190-58F1DF9D8B29}"/>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A7034D00-A995-468B-982A-B2E82FA99BAA}"/>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F1F832FD-F9F1-3A78-8317-7D3501520D02}"/>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0F3AF24C-B1B6-AC5F-B2A0-5B25721E8898}"/>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D2D7EAD3-B475-8F15-319D-E55A20EAB28E}"/>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5A362FD4-D9D4-2EE6-4E26-D3AE72F523BF}"/>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BA1AD4A3-D69E-1F30-B631-566BE2AB6C20}"/>
              </a:ext>
            </a:extLst>
          </p:cNvPr>
          <p:cNvPicPr preferRelativeResize="0"/>
          <p:nvPr/>
        </p:nvPicPr>
        <p:blipFill rotWithShape="1">
          <a:blip r:embed="rId3">
            <a:alphaModFix/>
          </a:blip>
          <a:srcRect/>
          <a:stretch/>
        </p:blipFill>
        <p:spPr>
          <a:xfrm>
            <a:off x="14614925" y="0"/>
            <a:ext cx="3348031" cy="1583846"/>
          </a:xfrm>
          <a:prstGeom prst="rect">
            <a:avLst/>
          </a:prstGeom>
          <a:noFill/>
          <a:ln>
            <a:noFill/>
          </a:ln>
        </p:spPr>
      </p:pic>
      <p:pic>
        <p:nvPicPr>
          <p:cNvPr id="13" name="Picture 12">
            <a:extLst>
              <a:ext uri="{FF2B5EF4-FFF2-40B4-BE49-F238E27FC236}">
                <a16:creationId xmlns:a16="http://schemas.microsoft.com/office/drawing/2014/main" id="{BD010F35-A2E4-A1C7-432C-61EC49833CB9}"/>
              </a:ext>
            </a:extLst>
          </p:cNvPr>
          <p:cNvPicPr>
            <a:picLocks noChangeAspect="1"/>
          </p:cNvPicPr>
          <p:nvPr/>
        </p:nvPicPr>
        <p:blipFill>
          <a:blip r:embed="rId4"/>
          <a:stretch>
            <a:fillRect/>
          </a:stretch>
        </p:blipFill>
        <p:spPr>
          <a:xfrm>
            <a:off x="78927" y="1232809"/>
            <a:ext cx="9321894" cy="4520718"/>
          </a:xfrm>
          <a:prstGeom prst="rect">
            <a:avLst/>
          </a:prstGeom>
        </p:spPr>
      </p:pic>
      <p:pic>
        <p:nvPicPr>
          <p:cNvPr id="15" name="Picture 14">
            <a:extLst>
              <a:ext uri="{FF2B5EF4-FFF2-40B4-BE49-F238E27FC236}">
                <a16:creationId xmlns:a16="http://schemas.microsoft.com/office/drawing/2014/main" id="{F6C5FDDA-FF38-796C-DA80-62C7CA27D128}"/>
              </a:ext>
            </a:extLst>
          </p:cNvPr>
          <p:cNvPicPr>
            <a:picLocks noChangeAspect="1"/>
          </p:cNvPicPr>
          <p:nvPr/>
        </p:nvPicPr>
        <p:blipFill>
          <a:blip r:embed="rId5"/>
          <a:stretch>
            <a:fillRect/>
          </a:stretch>
        </p:blipFill>
        <p:spPr>
          <a:xfrm>
            <a:off x="9400961" y="5592397"/>
            <a:ext cx="8561995" cy="4520718"/>
          </a:xfrm>
          <a:prstGeom prst="rect">
            <a:avLst/>
          </a:prstGeom>
        </p:spPr>
      </p:pic>
    </p:spTree>
    <p:extLst>
      <p:ext uri="{BB962C8B-B14F-4D97-AF65-F5344CB8AC3E}">
        <p14:creationId xmlns:p14="http://schemas.microsoft.com/office/powerpoint/2010/main" val="96716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406C3D-9AD2-7D7C-3054-673330BB5BBC}"/>
              </a:ext>
            </a:extLst>
          </p:cNvPr>
          <p:cNvSpPr txBox="1"/>
          <p:nvPr/>
        </p:nvSpPr>
        <p:spPr>
          <a:xfrm>
            <a:off x="325044" y="131028"/>
            <a:ext cx="9144000" cy="707886"/>
          </a:xfrm>
          <a:prstGeom prst="rect">
            <a:avLst/>
          </a:prstGeom>
          <a:noFill/>
        </p:spPr>
        <p:txBody>
          <a:bodyPr wrap="square">
            <a:spAutoFit/>
          </a:bodyPr>
          <a:lstStyle/>
          <a:p>
            <a:pPr>
              <a:buNone/>
            </a:pPr>
            <a:r>
              <a:rPr lang="en-IN" sz="4000" b="1" dirty="0" err="1">
                <a:solidFill>
                  <a:srgbClr val="FFFF00"/>
                </a:solidFill>
                <a:latin typeface="Alatsi" panose="020B0604020202020204" charset="0"/>
                <a:cs typeface="Alatsi" panose="020B0604020202020204" charset="0"/>
              </a:rPr>
              <a:t>Literaure</a:t>
            </a:r>
            <a:r>
              <a:rPr lang="en-IN" sz="4000" b="1" dirty="0">
                <a:solidFill>
                  <a:srgbClr val="FFFF00"/>
                </a:solidFill>
                <a:latin typeface="Alatsi" panose="020B0604020202020204" charset="0"/>
                <a:cs typeface="Alatsi" panose="020B0604020202020204" charset="0"/>
              </a:rPr>
              <a:t> Review</a:t>
            </a:r>
          </a:p>
        </p:txBody>
      </p:sp>
      <p:grpSp>
        <p:nvGrpSpPr>
          <p:cNvPr id="4" name="Google Shape;179;p5">
            <a:extLst>
              <a:ext uri="{FF2B5EF4-FFF2-40B4-BE49-F238E27FC236}">
                <a16:creationId xmlns:a16="http://schemas.microsoft.com/office/drawing/2014/main" id="{9AC0BFBA-EBD2-2B14-F620-4440E7AF2652}"/>
              </a:ext>
            </a:extLst>
          </p:cNvPr>
          <p:cNvGrpSpPr/>
          <p:nvPr/>
        </p:nvGrpSpPr>
        <p:grpSpPr>
          <a:xfrm>
            <a:off x="0" y="824381"/>
            <a:ext cx="13832330" cy="262748"/>
            <a:chOff x="30192" y="-59703"/>
            <a:chExt cx="18443106" cy="350331"/>
          </a:xfrm>
        </p:grpSpPr>
        <p:grpSp>
          <p:nvGrpSpPr>
            <p:cNvPr id="5" name="Google Shape;180;p5">
              <a:extLst>
                <a:ext uri="{FF2B5EF4-FFF2-40B4-BE49-F238E27FC236}">
                  <a16:creationId xmlns:a16="http://schemas.microsoft.com/office/drawing/2014/main" id="{E7E6E025-6207-ADDB-E275-CE58A402B386}"/>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5EE32035-2AD1-5AF8-9170-AFE01B2E6978}"/>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0CAB49B6-AB72-F273-887A-E897D439AA3B}"/>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40004BCB-894D-749A-8E32-7E547B987C57}"/>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DC309170-326B-BB57-3D8A-DE8C84C8914D}"/>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C48E63BE-282D-28AB-86ED-4EF16020A907}"/>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7A6FC9E0-B874-51F3-7B55-C28E39804B97}"/>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sp>
        <p:nvSpPr>
          <p:cNvPr id="13" name="TextBox 12">
            <a:extLst>
              <a:ext uri="{FF2B5EF4-FFF2-40B4-BE49-F238E27FC236}">
                <a16:creationId xmlns:a16="http://schemas.microsoft.com/office/drawing/2014/main" id="{14252BC5-D72D-FA0B-4018-70C8AE351428}"/>
              </a:ext>
            </a:extLst>
          </p:cNvPr>
          <p:cNvSpPr txBox="1"/>
          <p:nvPr/>
        </p:nvSpPr>
        <p:spPr>
          <a:xfrm>
            <a:off x="194872" y="1409075"/>
            <a:ext cx="18093128" cy="8956298"/>
          </a:xfrm>
          <a:prstGeom prst="rect">
            <a:avLst/>
          </a:prstGeom>
          <a:noFill/>
        </p:spPr>
        <p:txBody>
          <a:bodyPr wrap="square">
            <a:spAutoFit/>
          </a:bodyPr>
          <a:lstStyle/>
          <a:p>
            <a:r>
              <a:rPr lang="en-US" sz="2400" dirty="0">
                <a:latin typeface="Alatsi" panose="020B0604020202020204" charset="0"/>
                <a:cs typeface="Alatsi" panose="020B0604020202020204" charset="0"/>
              </a:rPr>
              <a:t>Reference Paper: * "Restoration of Ancient Kannada Handwritten Palm Leaf Manuscripts using Image Enhancement Techniques"</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Key Findings from Existing Literature:</a:t>
            </a:r>
          </a:p>
          <a:p>
            <a:r>
              <a:rPr lang="en-US" sz="2400" dirty="0">
                <a:latin typeface="Alatsi" panose="020B0604020202020204" charset="0"/>
                <a:cs typeface="Alatsi" panose="020B0604020202020204" charset="0"/>
              </a:rPr>
              <a:t>Traditional Focus: Existing research primarily focuses purely on the visual restoration of palm leaves using mathematical image processing (like spatial filtering, binarization, and background noise reduction).</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The Goal: To make degraded, low-contrast engravings merely visible to the human eye.</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The Limitations (The "Gap" in the Market):</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Lack of Comprehension: Traditional image enhancement only cleans the image; it does not actually read or comprehend the ancient text.</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Language Barrier: Even if a leaf is perfectly restored visually, it remains unreadable to 99% of the population because the ancient script (like ancient Tamil or Kannada) is dead or highly specialized.</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Accessibility: Existing methods are standalone offline algorithms, not accessible tools for the public.</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Our Innovation (How </a:t>
            </a:r>
            <a:r>
              <a:rPr lang="en-US" sz="2400" dirty="0" err="1">
                <a:latin typeface="Alatsi" panose="020B0604020202020204" charset="0"/>
                <a:cs typeface="Alatsi" panose="020B0604020202020204" charset="0"/>
              </a:rPr>
              <a:t>HeritageAI</a:t>
            </a:r>
            <a:r>
              <a:rPr lang="en-US" sz="2400" dirty="0">
                <a:latin typeface="Alatsi" panose="020B0604020202020204" charset="0"/>
                <a:cs typeface="Alatsi" panose="020B0604020202020204" charset="0"/>
              </a:rPr>
              <a:t> is Better):</a:t>
            </a:r>
          </a:p>
          <a:p>
            <a:r>
              <a:rPr lang="en-US" sz="2400" dirty="0">
                <a:latin typeface="Alatsi" panose="020B0604020202020204" charset="0"/>
                <a:cs typeface="Alatsi" panose="020B0604020202020204" charset="0"/>
              </a:rPr>
              <a:t>End-to-End Pipeline: We don't just stop at image enhancement (our Adaptive CLAHE OpenCV pipeline).</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Multimodal AI Integration: We pass the restored data directly into a multimodal LLM to perform zero-shot OCR extraction.</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Global Accessibility: We bridge the final gap by translating the ancient text into modern regional languages (Hindi, Telugu, Malayalam, etc.) with Text-to-Speech capabilities in a live web app.</a:t>
            </a:r>
            <a:endParaRPr lang="en-IN" sz="2400" dirty="0">
              <a:latin typeface="Alatsi" panose="020B0604020202020204" charset="0"/>
              <a:cs typeface="Alatsi" panose="020B0604020202020204" charset="0"/>
            </a:endParaRPr>
          </a:p>
        </p:txBody>
      </p:sp>
    </p:spTree>
    <p:extLst>
      <p:ext uri="{BB962C8B-B14F-4D97-AF65-F5344CB8AC3E}">
        <p14:creationId xmlns:p14="http://schemas.microsoft.com/office/powerpoint/2010/main" val="475555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D3B5A0-32E8-AF20-3CCF-40ABDB6CD522}"/>
              </a:ext>
            </a:extLst>
          </p:cNvPr>
          <p:cNvSpPr txBox="1"/>
          <p:nvPr/>
        </p:nvSpPr>
        <p:spPr>
          <a:xfrm>
            <a:off x="284813" y="325797"/>
            <a:ext cx="9144000" cy="707886"/>
          </a:xfrm>
          <a:prstGeom prst="rect">
            <a:avLst/>
          </a:prstGeom>
          <a:noFill/>
        </p:spPr>
        <p:txBody>
          <a:bodyPr wrap="square">
            <a:spAutoFit/>
          </a:bodyPr>
          <a:lstStyle/>
          <a:p>
            <a:pPr>
              <a:buNone/>
            </a:pPr>
            <a:r>
              <a:rPr lang="en-IN" sz="4000" b="1" dirty="0">
                <a:solidFill>
                  <a:srgbClr val="FFFF00"/>
                </a:solidFill>
                <a:latin typeface="Alatsi" panose="020B0604020202020204" charset="0"/>
                <a:cs typeface="Alatsi" panose="020B0604020202020204" charset="0"/>
              </a:rPr>
              <a:t>Future Scope &amp; Impact</a:t>
            </a:r>
          </a:p>
        </p:txBody>
      </p:sp>
      <p:grpSp>
        <p:nvGrpSpPr>
          <p:cNvPr id="4" name="Google Shape;179;p5">
            <a:extLst>
              <a:ext uri="{FF2B5EF4-FFF2-40B4-BE49-F238E27FC236}">
                <a16:creationId xmlns:a16="http://schemas.microsoft.com/office/drawing/2014/main" id="{FE61F33A-E764-E03C-B0BB-6CA591AAB334}"/>
              </a:ext>
            </a:extLst>
          </p:cNvPr>
          <p:cNvGrpSpPr/>
          <p:nvPr/>
        </p:nvGrpSpPr>
        <p:grpSpPr>
          <a:xfrm>
            <a:off x="0" y="1033683"/>
            <a:ext cx="13832330" cy="262748"/>
            <a:chOff x="30192" y="-59703"/>
            <a:chExt cx="18443106" cy="350331"/>
          </a:xfrm>
        </p:grpSpPr>
        <p:grpSp>
          <p:nvGrpSpPr>
            <p:cNvPr id="5" name="Google Shape;180;p5">
              <a:extLst>
                <a:ext uri="{FF2B5EF4-FFF2-40B4-BE49-F238E27FC236}">
                  <a16:creationId xmlns:a16="http://schemas.microsoft.com/office/drawing/2014/main" id="{ACE42212-2494-62C2-A4C6-07612D27DFDC}"/>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0C0E427E-D130-2F3E-B548-66361E670265}"/>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DD4A5C81-24C9-5733-5F0E-1159627F1574}"/>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F42BBCF1-6B76-51A6-FD85-213481437AA9}"/>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AF36F323-FF02-5D6F-F4FE-31100ED10C19}"/>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4CFDF949-49D6-2238-A947-D208898F5C9C}"/>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13A90ECD-D3EB-F2AD-AAF6-EE5C49E373AD}"/>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sp>
        <p:nvSpPr>
          <p:cNvPr id="14" name="TextBox 13">
            <a:extLst>
              <a:ext uri="{FF2B5EF4-FFF2-40B4-BE49-F238E27FC236}">
                <a16:creationId xmlns:a16="http://schemas.microsoft.com/office/drawing/2014/main" id="{EAD689BC-F87C-E1B9-E30D-930A414F4F2A}"/>
              </a:ext>
            </a:extLst>
          </p:cNvPr>
          <p:cNvSpPr txBox="1"/>
          <p:nvPr/>
        </p:nvSpPr>
        <p:spPr>
          <a:xfrm>
            <a:off x="184731" y="1623133"/>
            <a:ext cx="17778225" cy="5016758"/>
          </a:xfrm>
          <a:prstGeom prst="rect">
            <a:avLst/>
          </a:prstGeom>
          <a:noFill/>
        </p:spPr>
        <p:txBody>
          <a:bodyPr wrap="square">
            <a:spAutoFit/>
          </a:bodyPr>
          <a:lstStyle/>
          <a:p>
            <a:pPr lvl="0" eaLnBrk="0" fontAlgn="base" hangingPunct="0">
              <a:spcBef>
                <a:spcPct val="0"/>
              </a:spcBef>
              <a:spcAft>
                <a:spcPct val="0"/>
              </a:spcAft>
              <a:buClrTx/>
              <a:buFontTx/>
              <a:buChar char="•"/>
            </a:pPr>
            <a:r>
              <a:rPr lang="en-US" altLang="en-US" sz="3200" b="1" dirty="0">
                <a:solidFill>
                  <a:schemeClr val="tx1"/>
                </a:solidFill>
                <a:latin typeface="Alatsi" panose="020B0604020202020204" charset="0"/>
                <a:cs typeface="Alatsi" panose="020B0604020202020204" charset="0"/>
              </a:rPr>
              <a:t>Automated OCR Integration:</a:t>
            </a:r>
            <a:r>
              <a:rPr lang="en-US" altLang="en-US" sz="3200" dirty="0">
                <a:solidFill>
                  <a:schemeClr val="tx1"/>
                </a:solidFill>
                <a:latin typeface="Alatsi" panose="020B0604020202020204" charset="0"/>
                <a:cs typeface="Alatsi" panose="020B0604020202020204" charset="0"/>
              </a:rPr>
              <a:t> Training a custom Vision model to automatically read ancient </a:t>
            </a:r>
            <a:r>
              <a:rPr lang="en-US" altLang="en-US" sz="3200" dirty="0" err="1">
                <a:solidFill>
                  <a:schemeClr val="tx1"/>
                </a:solidFill>
                <a:latin typeface="Alatsi" panose="020B0604020202020204" charset="0"/>
                <a:cs typeface="Alatsi" panose="020B0604020202020204" charset="0"/>
              </a:rPr>
              <a:t>Vattezhuttu</a:t>
            </a:r>
            <a:r>
              <a:rPr lang="en-US" altLang="en-US" sz="3200" dirty="0">
                <a:solidFill>
                  <a:schemeClr val="tx1"/>
                </a:solidFill>
                <a:latin typeface="Alatsi" panose="020B0604020202020204" charset="0"/>
                <a:cs typeface="Alatsi" panose="020B0604020202020204" charset="0"/>
              </a:rPr>
              <a:t> script.</a:t>
            </a:r>
          </a:p>
          <a:p>
            <a:pPr lvl="0" eaLnBrk="0" fontAlgn="base" hangingPunct="0">
              <a:spcBef>
                <a:spcPct val="0"/>
              </a:spcBef>
              <a:spcAft>
                <a:spcPct val="0"/>
              </a:spcAft>
              <a:buClrTx/>
              <a:buFontTx/>
              <a:buChar char="•"/>
            </a:pPr>
            <a:r>
              <a:rPr lang="en-US" altLang="en-US" sz="3200" b="1" dirty="0">
                <a:solidFill>
                  <a:schemeClr val="tx1"/>
                </a:solidFill>
                <a:latin typeface="Alatsi" panose="020B0604020202020204" charset="0"/>
                <a:cs typeface="Alatsi" panose="020B0604020202020204" charset="0"/>
              </a:rPr>
              <a:t>Multi-lingual Expansion:</a:t>
            </a:r>
            <a:r>
              <a:rPr lang="en-US" altLang="en-US" sz="3200" dirty="0">
                <a:solidFill>
                  <a:schemeClr val="tx1"/>
                </a:solidFill>
                <a:latin typeface="Alatsi" panose="020B0604020202020204" charset="0"/>
                <a:cs typeface="Alatsi" panose="020B0604020202020204" charset="0"/>
              </a:rPr>
              <a:t> Scaling the local AI to translate ancient Sanskrit, Pali, or historical Telugu.</a:t>
            </a:r>
          </a:p>
          <a:p>
            <a:pPr lvl="0" eaLnBrk="0" fontAlgn="base" hangingPunct="0">
              <a:spcBef>
                <a:spcPct val="0"/>
              </a:spcBef>
              <a:spcAft>
                <a:spcPct val="0"/>
              </a:spcAft>
              <a:buClrTx/>
              <a:buFontTx/>
              <a:buChar char="•"/>
            </a:pPr>
            <a:r>
              <a:rPr lang="en-US" altLang="en-US" sz="3200" b="1" dirty="0">
                <a:solidFill>
                  <a:schemeClr val="tx1"/>
                </a:solidFill>
                <a:latin typeface="Alatsi" panose="020B0604020202020204" charset="0"/>
                <a:cs typeface="Alatsi" panose="020B0604020202020204" charset="0"/>
              </a:rPr>
              <a:t>Global Museum Deployment:</a:t>
            </a:r>
            <a:r>
              <a:rPr lang="en-US" altLang="en-US" sz="3200" dirty="0">
                <a:solidFill>
                  <a:schemeClr val="tx1"/>
                </a:solidFill>
                <a:latin typeface="Alatsi" panose="020B0604020202020204" charset="0"/>
                <a:cs typeface="Alatsi" panose="020B0604020202020204" charset="0"/>
              </a:rPr>
              <a:t> Packaging this as an offline desktop app for historians worldwide</a:t>
            </a:r>
            <a:r>
              <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rPr>
              <a:t>.</a:t>
            </a:r>
          </a:p>
          <a:p>
            <a:pPr lvl="0" eaLnBrk="0" fontAlgn="base" hangingPunct="0">
              <a:spcBef>
                <a:spcPct val="0"/>
              </a:spcBef>
              <a:spcAft>
                <a:spcPct val="0"/>
              </a:spcAft>
              <a:buClrTx/>
              <a:buFontTx/>
              <a:buChar char="•"/>
            </a:pPr>
            <a:r>
              <a:rPr lang="en-US" sz="3200" b="1" dirty="0"/>
              <a:t>Unlocking Ancient Science &amp; Culture:</a:t>
            </a:r>
            <a:r>
              <a:rPr lang="en-US" sz="3200" dirty="0"/>
              <a:t> Decodes forgotten Siddha medical formulas for modern healthcare and preserves the classical roots of the Tamil language before they are lost to decay.</a:t>
            </a:r>
          </a:p>
          <a:p>
            <a:pPr lvl="0" eaLnBrk="0" fontAlgn="base" hangingPunct="0">
              <a:spcBef>
                <a:spcPct val="0"/>
              </a:spcBef>
              <a:spcAft>
                <a:spcPct val="0"/>
              </a:spcAft>
              <a:buClrTx/>
              <a:buFontTx/>
              <a:buChar char="•"/>
            </a:pPr>
            <a:r>
              <a:rPr lang="en-US" sz="3200" b="1" dirty="0"/>
              <a:t>Resurrecting Lost Wisdom:</a:t>
            </a:r>
            <a:r>
              <a:rPr lang="en-US" sz="3200" dirty="0"/>
              <a:t> Bridges the gap to our ancestors by recovering lost traditional medicine and restoring our ancient Tamil linguistic heritage.</a:t>
            </a:r>
          </a:p>
          <a:p>
            <a:pPr lvl="0" eaLnBrk="0" fontAlgn="base" hangingPunct="0">
              <a:spcBef>
                <a:spcPct val="0"/>
              </a:spcBef>
              <a:spcAft>
                <a:spcPct val="0"/>
              </a:spcAft>
              <a:buClrTx/>
              <a:buFontTx/>
              <a:buChar char="•"/>
            </a:pPr>
            <a:r>
              <a:rPr lang="en-US" sz="3200" b="1" dirty="0"/>
              <a:t>Digital Preservation of Heritage:</a:t>
            </a:r>
            <a:r>
              <a:rPr lang="en-US" sz="3200" dirty="0"/>
              <a:t> Prevents the extinction of ancient Tamil dialects and unlocks centuries-old, life-saving medicinal knowledge hidden in palm leaves.</a:t>
            </a:r>
            <a:endPar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endParaRPr>
          </a:p>
        </p:txBody>
      </p:sp>
      <p:grpSp>
        <p:nvGrpSpPr>
          <p:cNvPr id="15" name="Google Shape;173;p5">
            <a:extLst>
              <a:ext uri="{FF2B5EF4-FFF2-40B4-BE49-F238E27FC236}">
                <a16:creationId xmlns:a16="http://schemas.microsoft.com/office/drawing/2014/main" id="{1AF4714C-EF63-F38E-5316-C4674433B808}"/>
              </a:ext>
            </a:extLst>
          </p:cNvPr>
          <p:cNvGrpSpPr/>
          <p:nvPr/>
        </p:nvGrpSpPr>
        <p:grpSpPr>
          <a:xfrm>
            <a:off x="0" y="9478847"/>
            <a:ext cx="10734327" cy="784832"/>
            <a:chOff x="0" y="-9525"/>
            <a:chExt cx="2000501" cy="146157"/>
          </a:xfrm>
        </p:grpSpPr>
        <p:sp>
          <p:nvSpPr>
            <p:cNvPr id="16" name="Google Shape;174;p5">
              <a:extLst>
                <a:ext uri="{FF2B5EF4-FFF2-40B4-BE49-F238E27FC236}">
                  <a16:creationId xmlns:a16="http://schemas.microsoft.com/office/drawing/2014/main" id="{B8A6B5BA-A6A9-DC16-43DF-0A3B70012915}"/>
                </a:ext>
              </a:extLst>
            </p:cNvPr>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17" name="Google Shape;175;p5">
              <a:extLst>
                <a:ext uri="{FF2B5EF4-FFF2-40B4-BE49-F238E27FC236}">
                  <a16:creationId xmlns:a16="http://schemas.microsoft.com/office/drawing/2014/main" id="{E3A0F19E-F398-43E8-52DF-F3B2744356BA}"/>
                </a:ext>
              </a:extLst>
            </p:cNvPr>
            <p:cNvSpPr txBox="1"/>
            <p:nvPr/>
          </p:nvSpPr>
          <p:spPr>
            <a:xfrm>
              <a:off x="0" y="-9525"/>
              <a:ext cx="2000501" cy="146157"/>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 name="Google Shape;176;p5">
            <a:extLst>
              <a:ext uri="{FF2B5EF4-FFF2-40B4-BE49-F238E27FC236}">
                <a16:creationId xmlns:a16="http://schemas.microsoft.com/office/drawing/2014/main" id="{037A566F-4C0F-1DCD-633D-C41F2DBE2B72}"/>
              </a:ext>
            </a:extLst>
          </p:cNvPr>
          <p:cNvGrpSpPr/>
          <p:nvPr/>
        </p:nvGrpSpPr>
        <p:grpSpPr>
          <a:xfrm>
            <a:off x="7829966" y="9358601"/>
            <a:ext cx="11425677" cy="905078"/>
            <a:chOff x="3495" y="-9525"/>
            <a:chExt cx="1929718" cy="152861"/>
          </a:xfrm>
        </p:grpSpPr>
        <p:sp>
          <p:nvSpPr>
            <p:cNvPr id="19" name="Google Shape;177;p5">
              <a:extLst>
                <a:ext uri="{FF2B5EF4-FFF2-40B4-BE49-F238E27FC236}">
                  <a16:creationId xmlns:a16="http://schemas.microsoft.com/office/drawing/2014/main" id="{E0AA646C-82D1-5943-97CE-0FE8AA058CC9}"/>
                </a:ext>
              </a:extLst>
            </p:cNvPr>
            <p:cNvSpPr/>
            <p:nvPr/>
          </p:nvSpPr>
          <p:spPr>
            <a:xfrm>
              <a:off x="3495" y="0"/>
              <a:ext cx="1929718" cy="143336"/>
            </a:xfrm>
            <a:custGeom>
              <a:avLst/>
              <a:gdLst/>
              <a:ahLst/>
              <a:cxnLst/>
              <a:rect l="l" t="t" r="r" b="b"/>
              <a:pathLst>
                <a:path w="1929718" h="143336" extrusionOk="0">
                  <a:moveTo>
                    <a:pt x="231587" y="0"/>
                  </a:moveTo>
                  <a:lnTo>
                    <a:pt x="1928319" y="0"/>
                  </a:lnTo>
                  <a:cubicBezTo>
                    <a:pt x="1928944" y="0"/>
                    <a:pt x="1929493" y="414"/>
                    <a:pt x="1929665" y="1015"/>
                  </a:cubicBezTo>
                  <a:cubicBezTo>
                    <a:pt x="1929836" y="1615"/>
                    <a:pt x="1929589" y="2257"/>
                    <a:pt x="1929059" y="2587"/>
                  </a:cubicBezTo>
                  <a:lnTo>
                    <a:pt x="1707182" y="140749"/>
                  </a:lnTo>
                  <a:cubicBezTo>
                    <a:pt x="1704466" y="142440"/>
                    <a:pt x="1701331" y="143336"/>
                    <a:pt x="1698132" y="143336"/>
                  </a:cubicBezTo>
                  <a:lnTo>
                    <a:pt x="1400" y="143336"/>
                  </a:lnTo>
                  <a:cubicBezTo>
                    <a:pt x="775" y="143336"/>
                    <a:pt x="226" y="142922"/>
                    <a:pt x="54" y="142322"/>
                  </a:cubicBezTo>
                  <a:cubicBezTo>
                    <a:pt x="-117" y="141721"/>
                    <a:pt x="130" y="141079"/>
                    <a:pt x="660" y="140749"/>
                  </a:cubicBezTo>
                  <a:lnTo>
                    <a:pt x="222537" y="2587"/>
                  </a:lnTo>
                  <a:cubicBezTo>
                    <a:pt x="225253" y="896"/>
                    <a:pt x="228388" y="0"/>
                    <a:pt x="231587"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p5">
              <a:extLst>
                <a:ext uri="{FF2B5EF4-FFF2-40B4-BE49-F238E27FC236}">
                  <a16:creationId xmlns:a16="http://schemas.microsoft.com/office/drawing/2014/main" id="{84AC16AF-3987-2756-4A2D-BC07F3BB4FDB}"/>
                </a:ext>
              </a:extLst>
            </p:cNvPr>
            <p:cNvSpPr txBox="1"/>
            <p:nvPr/>
          </p:nvSpPr>
          <p:spPr>
            <a:xfrm>
              <a:off x="254000" y="-9525"/>
              <a:ext cx="1428709" cy="15286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67092664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TotalTime>
  <Words>1104</Words>
  <Application>Microsoft Office PowerPoint</Application>
  <PresentationFormat>Custom</PresentationFormat>
  <Paragraphs>94</Paragraphs>
  <Slides>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Arial</vt:lpstr>
      <vt:lpstr>Alatsi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Pranav Iyyappan</cp:lastModifiedBy>
  <cp:revision>86</cp:revision>
  <dcterms:created xsi:type="dcterms:W3CDTF">2006-08-16T00:00:00Z</dcterms:created>
  <dcterms:modified xsi:type="dcterms:W3CDTF">2026-02-26T06:47:04Z</dcterms:modified>
</cp:coreProperties>
</file>